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60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398" r:id="rId13"/>
    <p:sldId id="25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68"/>
    <p:restoredTop sz="94704"/>
  </p:normalViewPr>
  <p:slideViewPr>
    <p:cSldViewPr snapToGrid="0">
      <p:cViewPr varScale="1">
        <p:scale>
          <a:sx n="109" d="100"/>
          <a:sy n="109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A88986B-2C2E-114D-A1F1-DA74BFF4CD66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274972-AF02-3045-8F2E-BF506C611843}">
      <dgm:prSet custT="1"/>
      <dgm:spPr/>
      <dgm:t>
        <a:bodyPr/>
        <a:lstStyle/>
        <a:p>
          <a:r>
            <a:rPr lang="en-US" sz="2000" b="1" i="0" dirty="0"/>
            <a:t>Credit approval affects financial access and opportunity</a:t>
          </a:r>
          <a:endParaRPr lang="en-US" sz="2000" b="1" dirty="0"/>
        </a:p>
      </dgm:t>
    </dgm:pt>
    <dgm:pt modelId="{9839BB10-CA6C-0C44-8B83-0369258E59EB}" type="parTrans" cxnId="{A222EDB3-73CD-F648-8CE3-F067C19ABC44}">
      <dgm:prSet/>
      <dgm:spPr/>
      <dgm:t>
        <a:bodyPr/>
        <a:lstStyle/>
        <a:p>
          <a:endParaRPr lang="en-US"/>
        </a:p>
      </dgm:t>
    </dgm:pt>
    <dgm:pt modelId="{64DE2F3E-0ED5-2643-8F82-D90045291202}" type="sibTrans" cxnId="{A222EDB3-73CD-F648-8CE3-F067C19ABC44}">
      <dgm:prSet/>
      <dgm:spPr/>
      <dgm:t>
        <a:bodyPr/>
        <a:lstStyle/>
        <a:p>
          <a:endParaRPr lang="en-US"/>
        </a:p>
      </dgm:t>
    </dgm:pt>
    <dgm:pt modelId="{2D081D48-18E6-E641-BCA0-3475F6A55EB6}">
      <dgm:prSet custT="1"/>
      <dgm:spPr/>
      <dgm:t>
        <a:bodyPr/>
        <a:lstStyle/>
        <a:p>
          <a:r>
            <a:rPr lang="en-US" sz="2000" b="1" i="0" dirty="0"/>
            <a:t>Incorrect decisions can lead to financial risk or missed potential  </a:t>
          </a:r>
          <a:endParaRPr lang="en-US" sz="2000" b="1" dirty="0"/>
        </a:p>
      </dgm:t>
    </dgm:pt>
    <dgm:pt modelId="{716F7748-0144-234F-933C-3110972D9683}" type="parTrans" cxnId="{D4BF726F-BE58-4849-B0D3-6A77EE1E47C0}">
      <dgm:prSet/>
      <dgm:spPr/>
      <dgm:t>
        <a:bodyPr/>
        <a:lstStyle/>
        <a:p>
          <a:endParaRPr lang="en-US"/>
        </a:p>
      </dgm:t>
    </dgm:pt>
    <dgm:pt modelId="{0247D053-335C-B047-A6D9-82A0DE2ABA0A}" type="sibTrans" cxnId="{D4BF726F-BE58-4849-B0D3-6A77EE1E47C0}">
      <dgm:prSet/>
      <dgm:spPr/>
      <dgm:t>
        <a:bodyPr/>
        <a:lstStyle/>
        <a:p>
          <a:endParaRPr lang="en-US"/>
        </a:p>
      </dgm:t>
    </dgm:pt>
    <dgm:pt modelId="{FBAC4EE7-5D76-C347-B6A2-BE7F4231D861}">
      <dgm:prSet custT="1"/>
      <dgm:spPr/>
      <dgm:t>
        <a:bodyPr/>
        <a:lstStyle/>
        <a:p>
          <a:r>
            <a:rPr lang="en-US" sz="2000" b="1" i="0" dirty="0"/>
            <a:t>Data-driven insights help improve decision-making  </a:t>
          </a:r>
          <a:endParaRPr lang="en-US" sz="2000" b="1" dirty="0"/>
        </a:p>
      </dgm:t>
    </dgm:pt>
    <dgm:pt modelId="{B3618404-C3C3-CC4B-82E9-2864C0281283}" type="parTrans" cxnId="{6CA06D5B-40F8-B04E-9F9A-1AB7667D51F5}">
      <dgm:prSet/>
      <dgm:spPr/>
      <dgm:t>
        <a:bodyPr/>
        <a:lstStyle/>
        <a:p>
          <a:endParaRPr lang="en-US"/>
        </a:p>
      </dgm:t>
    </dgm:pt>
    <dgm:pt modelId="{5D861A93-9CCF-914A-9216-03989C8CCB1F}" type="sibTrans" cxnId="{6CA06D5B-40F8-B04E-9F9A-1AB7667D51F5}">
      <dgm:prSet/>
      <dgm:spPr/>
      <dgm:t>
        <a:bodyPr/>
        <a:lstStyle/>
        <a:p>
          <a:endParaRPr lang="en-US"/>
        </a:p>
      </dgm:t>
    </dgm:pt>
    <dgm:pt modelId="{5C7B8C4A-4919-6146-A0CD-912579BDB7B5}">
      <dgm:prSet custT="1"/>
      <dgm:spPr/>
      <dgm:t>
        <a:bodyPr/>
        <a:lstStyle/>
        <a:p>
          <a:r>
            <a:rPr lang="en-US" sz="2000" b="1" i="0" dirty="0"/>
            <a:t>Understanding applicant data is critical for accurate approvals</a:t>
          </a:r>
          <a:endParaRPr lang="en-US" sz="2000" b="1" dirty="0"/>
        </a:p>
      </dgm:t>
    </dgm:pt>
    <dgm:pt modelId="{957566FA-5062-C64B-A2A6-9342C814904B}" type="parTrans" cxnId="{960A86FD-E358-3043-A976-D9CABC9DA075}">
      <dgm:prSet/>
      <dgm:spPr/>
      <dgm:t>
        <a:bodyPr/>
        <a:lstStyle/>
        <a:p>
          <a:endParaRPr lang="en-US"/>
        </a:p>
      </dgm:t>
    </dgm:pt>
    <dgm:pt modelId="{A2AA0101-B3C6-FE46-853D-A0D7FEDFDCE7}" type="sibTrans" cxnId="{960A86FD-E358-3043-A976-D9CABC9DA075}">
      <dgm:prSet/>
      <dgm:spPr/>
      <dgm:t>
        <a:bodyPr/>
        <a:lstStyle/>
        <a:p>
          <a:endParaRPr lang="en-US"/>
        </a:p>
      </dgm:t>
    </dgm:pt>
    <dgm:pt modelId="{F6C33753-D8D3-5440-9031-B01621BC5E69}">
      <dgm:prSet custT="1"/>
      <dgm:spPr/>
      <dgm:t>
        <a:bodyPr/>
        <a:lstStyle/>
        <a:p>
          <a:r>
            <a:rPr lang="en-US" sz="2000" b="1" dirty="0"/>
            <a:t>How can we identify patterns that influence approval decisions?</a:t>
          </a:r>
        </a:p>
      </dgm:t>
    </dgm:pt>
    <dgm:pt modelId="{C5DA12E8-2EBC-5C45-835B-0DB385BE1A27}" type="parTrans" cxnId="{446257A2-E687-504A-8E93-D9304D1ECA3C}">
      <dgm:prSet/>
      <dgm:spPr/>
      <dgm:t>
        <a:bodyPr/>
        <a:lstStyle/>
        <a:p>
          <a:endParaRPr lang="en-US"/>
        </a:p>
      </dgm:t>
    </dgm:pt>
    <dgm:pt modelId="{AB770AF6-7B82-BE4F-B461-D2B32A64BD4C}" type="sibTrans" cxnId="{446257A2-E687-504A-8E93-D9304D1ECA3C}">
      <dgm:prSet/>
      <dgm:spPr/>
      <dgm:t>
        <a:bodyPr/>
        <a:lstStyle/>
        <a:p>
          <a:endParaRPr lang="en-US"/>
        </a:p>
      </dgm:t>
    </dgm:pt>
    <dgm:pt modelId="{0B73F9CA-D31E-1A42-90D6-F756746A8952}" type="pres">
      <dgm:prSet presAssocID="{EA88986B-2C2E-114D-A1F1-DA74BFF4CD66}" presName="Name0" presStyleCnt="0">
        <dgm:presLayoutVars>
          <dgm:dir/>
          <dgm:animLvl val="lvl"/>
          <dgm:resizeHandles val="exact"/>
        </dgm:presLayoutVars>
      </dgm:prSet>
      <dgm:spPr/>
    </dgm:pt>
    <dgm:pt modelId="{074674C0-A866-0442-80D9-808CBD21D83E}" type="pres">
      <dgm:prSet presAssocID="{F6C33753-D8D3-5440-9031-B01621BC5E69}" presName="boxAndChildren" presStyleCnt="0"/>
      <dgm:spPr/>
    </dgm:pt>
    <dgm:pt modelId="{5848504B-ABAB-6A47-88CC-C23FC60784A2}" type="pres">
      <dgm:prSet presAssocID="{F6C33753-D8D3-5440-9031-B01621BC5E69}" presName="parentTextBox" presStyleLbl="node1" presStyleIdx="0" presStyleCnt="5"/>
      <dgm:spPr/>
    </dgm:pt>
    <dgm:pt modelId="{B1CC24F1-AB84-C94D-A530-1B662C2090F5}" type="pres">
      <dgm:prSet presAssocID="{A2AA0101-B3C6-FE46-853D-A0D7FEDFDCE7}" presName="sp" presStyleCnt="0"/>
      <dgm:spPr/>
    </dgm:pt>
    <dgm:pt modelId="{11587B00-06E4-0544-97C4-B877577A019D}" type="pres">
      <dgm:prSet presAssocID="{5C7B8C4A-4919-6146-A0CD-912579BDB7B5}" presName="arrowAndChildren" presStyleCnt="0"/>
      <dgm:spPr/>
    </dgm:pt>
    <dgm:pt modelId="{F8C0E6A5-40EC-804E-9F1F-3DA7DED15E89}" type="pres">
      <dgm:prSet presAssocID="{5C7B8C4A-4919-6146-A0CD-912579BDB7B5}" presName="parentTextArrow" presStyleLbl="node1" presStyleIdx="1" presStyleCnt="5"/>
      <dgm:spPr/>
    </dgm:pt>
    <dgm:pt modelId="{93D42018-7845-8246-A95C-C1578A7FA80C}" type="pres">
      <dgm:prSet presAssocID="{5D861A93-9CCF-914A-9216-03989C8CCB1F}" presName="sp" presStyleCnt="0"/>
      <dgm:spPr/>
    </dgm:pt>
    <dgm:pt modelId="{562FDC88-8596-A043-9799-2DB53FC40442}" type="pres">
      <dgm:prSet presAssocID="{FBAC4EE7-5D76-C347-B6A2-BE7F4231D861}" presName="arrowAndChildren" presStyleCnt="0"/>
      <dgm:spPr/>
    </dgm:pt>
    <dgm:pt modelId="{C1D306A2-D734-0A41-9541-5529B9950344}" type="pres">
      <dgm:prSet presAssocID="{FBAC4EE7-5D76-C347-B6A2-BE7F4231D861}" presName="parentTextArrow" presStyleLbl="node1" presStyleIdx="2" presStyleCnt="5"/>
      <dgm:spPr/>
    </dgm:pt>
    <dgm:pt modelId="{8876E56C-3D97-F240-87BB-3EF86F3971AD}" type="pres">
      <dgm:prSet presAssocID="{0247D053-335C-B047-A6D9-82A0DE2ABA0A}" presName="sp" presStyleCnt="0"/>
      <dgm:spPr/>
    </dgm:pt>
    <dgm:pt modelId="{9A90ACD2-4C9C-5F4B-BB10-343A81F5AE27}" type="pres">
      <dgm:prSet presAssocID="{2D081D48-18E6-E641-BCA0-3475F6A55EB6}" presName="arrowAndChildren" presStyleCnt="0"/>
      <dgm:spPr/>
    </dgm:pt>
    <dgm:pt modelId="{37391B45-8E10-9043-B3C0-149119576A32}" type="pres">
      <dgm:prSet presAssocID="{2D081D48-18E6-E641-BCA0-3475F6A55EB6}" presName="parentTextArrow" presStyleLbl="node1" presStyleIdx="3" presStyleCnt="5"/>
      <dgm:spPr/>
    </dgm:pt>
    <dgm:pt modelId="{4D5B002F-D25E-6C46-B7B4-F91017266415}" type="pres">
      <dgm:prSet presAssocID="{64DE2F3E-0ED5-2643-8F82-D90045291202}" presName="sp" presStyleCnt="0"/>
      <dgm:spPr/>
    </dgm:pt>
    <dgm:pt modelId="{63EFB24B-E2C4-9347-B44C-15B92B6A493F}" type="pres">
      <dgm:prSet presAssocID="{88274972-AF02-3045-8F2E-BF506C611843}" presName="arrowAndChildren" presStyleCnt="0"/>
      <dgm:spPr/>
    </dgm:pt>
    <dgm:pt modelId="{97ED8255-1385-CA44-8B06-75D4C9A0D676}" type="pres">
      <dgm:prSet presAssocID="{88274972-AF02-3045-8F2E-BF506C611843}" presName="parentTextArrow" presStyleLbl="node1" presStyleIdx="4" presStyleCnt="5"/>
      <dgm:spPr/>
    </dgm:pt>
  </dgm:ptLst>
  <dgm:cxnLst>
    <dgm:cxn modelId="{F47E3217-20E3-3641-8722-EA33431CBC48}" type="presOf" srcId="{FBAC4EE7-5D76-C347-B6A2-BE7F4231D861}" destId="{C1D306A2-D734-0A41-9541-5529B9950344}" srcOrd="0" destOrd="0" presId="urn:microsoft.com/office/officeart/2005/8/layout/process4"/>
    <dgm:cxn modelId="{44849D1E-FD34-FA42-A85D-D7468DC23B67}" type="presOf" srcId="{5C7B8C4A-4919-6146-A0CD-912579BDB7B5}" destId="{F8C0E6A5-40EC-804E-9F1F-3DA7DED15E89}" srcOrd="0" destOrd="0" presId="urn:microsoft.com/office/officeart/2005/8/layout/process4"/>
    <dgm:cxn modelId="{C197BC50-8D2B-6F49-84FF-9139A7BAAA01}" type="presOf" srcId="{EA88986B-2C2E-114D-A1F1-DA74BFF4CD66}" destId="{0B73F9CA-D31E-1A42-90D6-F756746A8952}" srcOrd="0" destOrd="0" presId="urn:microsoft.com/office/officeart/2005/8/layout/process4"/>
    <dgm:cxn modelId="{53C3F550-7FF5-444B-BAB1-C66EB6F0FAF5}" type="presOf" srcId="{88274972-AF02-3045-8F2E-BF506C611843}" destId="{97ED8255-1385-CA44-8B06-75D4C9A0D676}" srcOrd="0" destOrd="0" presId="urn:microsoft.com/office/officeart/2005/8/layout/process4"/>
    <dgm:cxn modelId="{6CA06D5B-40F8-B04E-9F9A-1AB7667D51F5}" srcId="{EA88986B-2C2E-114D-A1F1-DA74BFF4CD66}" destId="{FBAC4EE7-5D76-C347-B6A2-BE7F4231D861}" srcOrd="2" destOrd="0" parTransId="{B3618404-C3C3-CC4B-82E9-2864C0281283}" sibTransId="{5D861A93-9CCF-914A-9216-03989C8CCB1F}"/>
    <dgm:cxn modelId="{994ECA69-50B2-1D44-BD09-6E79A89B1ECB}" type="presOf" srcId="{2D081D48-18E6-E641-BCA0-3475F6A55EB6}" destId="{37391B45-8E10-9043-B3C0-149119576A32}" srcOrd="0" destOrd="0" presId="urn:microsoft.com/office/officeart/2005/8/layout/process4"/>
    <dgm:cxn modelId="{D4BF726F-BE58-4849-B0D3-6A77EE1E47C0}" srcId="{EA88986B-2C2E-114D-A1F1-DA74BFF4CD66}" destId="{2D081D48-18E6-E641-BCA0-3475F6A55EB6}" srcOrd="1" destOrd="0" parTransId="{716F7748-0144-234F-933C-3110972D9683}" sibTransId="{0247D053-335C-B047-A6D9-82A0DE2ABA0A}"/>
    <dgm:cxn modelId="{446257A2-E687-504A-8E93-D9304D1ECA3C}" srcId="{EA88986B-2C2E-114D-A1F1-DA74BFF4CD66}" destId="{F6C33753-D8D3-5440-9031-B01621BC5E69}" srcOrd="4" destOrd="0" parTransId="{C5DA12E8-2EBC-5C45-835B-0DB385BE1A27}" sibTransId="{AB770AF6-7B82-BE4F-B461-D2B32A64BD4C}"/>
    <dgm:cxn modelId="{A222EDB3-73CD-F648-8CE3-F067C19ABC44}" srcId="{EA88986B-2C2E-114D-A1F1-DA74BFF4CD66}" destId="{88274972-AF02-3045-8F2E-BF506C611843}" srcOrd="0" destOrd="0" parTransId="{9839BB10-CA6C-0C44-8B83-0369258E59EB}" sibTransId="{64DE2F3E-0ED5-2643-8F82-D90045291202}"/>
    <dgm:cxn modelId="{8C005BE3-BCF8-E041-A02C-59022F7FDF8D}" type="presOf" srcId="{F6C33753-D8D3-5440-9031-B01621BC5E69}" destId="{5848504B-ABAB-6A47-88CC-C23FC60784A2}" srcOrd="0" destOrd="0" presId="urn:microsoft.com/office/officeart/2005/8/layout/process4"/>
    <dgm:cxn modelId="{960A86FD-E358-3043-A976-D9CABC9DA075}" srcId="{EA88986B-2C2E-114D-A1F1-DA74BFF4CD66}" destId="{5C7B8C4A-4919-6146-A0CD-912579BDB7B5}" srcOrd="3" destOrd="0" parTransId="{957566FA-5062-C64B-A2A6-9342C814904B}" sibTransId="{A2AA0101-B3C6-FE46-853D-A0D7FEDFDCE7}"/>
    <dgm:cxn modelId="{9F5FDB0F-989A-8749-8E60-CD15E30413C7}" type="presParOf" srcId="{0B73F9CA-D31E-1A42-90D6-F756746A8952}" destId="{074674C0-A866-0442-80D9-808CBD21D83E}" srcOrd="0" destOrd="0" presId="urn:microsoft.com/office/officeart/2005/8/layout/process4"/>
    <dgm:cxn modelId="{03563A52-64A5-0F4A-9DB2-7EBAA18F10BE}" type="presParOf" srcId="{074674C0-A866-0442-80D9-808CBD21D83E}" destId="{5848504B-ABAB-6A47-88CC-C23FC60784A2}" srcOrd="0" destOrd="0" presId="urn:microsoft.com/office/officeart/2005/8/layout/process4"/>
    <dgm:cxn modelId="{878D0603-214F-B24E-9667-C0DB91DE84FE}" type="presParOf" srcId="{0B73F9CA-D31E-1A42-90D6-F756746A8952}" destId="{B1CC24F1-AB84-C94D-A530-1B662C2090F5}" srcOrd="1" destOrd="0" presId="urn:microsoft.com/office/officeart/2005/8/layout/process4"/>
    <dgm:cxn modelId="{7CBE65E6-08DC-9742-91C6-ECC7C30A5DB3}" type="presParOf" srcId="{0B73F9CA-D31E-1A42-90D6-F756746A8952}" destId="{11587B00-06E4-0544-97C4-B877577A019D}" srcOrd="2" destOrd="0" presId="urn:microsoft.com/office/officeart/2005/8/layout/process4"/>
    <dgm:cxn modelId="{B21C29CC-7B7C-A847-B8CB-4FD2B732635C}" type="presParOf" srcId="{11587B00-06E4-0544-97C4-B877577A019D}" destId="{F8C0E6A5-40EC-804E-9F1F-3DA7DED15E89}" srcOrd="0" destOrd="0" presId="urn:microsoft.com/office/officeart/2005/8/layout/process4"/>
    <dgm:cxn modelId="{BCB780E3-43ED-B444-8661-D12B5FB11C20}" type="presParOf" srcId="{0B73F9CA-D31E-1A42-90D6-F756746A8952}" destId="{93D42018-7845-8246-A95C-C1578A7FA80C}" srcOrd="3" destOrd="0" presId="urn:microsoft.com/office/officeart/2005/8/layout/process4"/>
    <dgm:cxn modelId="{1355BE6E-B16B-2745-9423-8FAB6B5B17AB}" type="presParOf" srcId="{0B73F9CA-D31E-1A42-90D6-F756746A8952}" destId="{562FDC88-8596-A043-9799-2DB53FC40442}" srcOrd="4" destOrd="0" presId="urn:microsoft.com/office/officeart/2005/8/layout/process4"/>
    <dgm:cxn modelId="{9B548D23-8235-1245-8755-5E727E860486}" type="presParOf" srcId="{562FDC88-8596-A043-9799-2DB53FC40442}" destId="{C1D306A2-D734-0A41-9541-5529B9950344}" srcOrd="0" destOrd="0" presId="urn:microsoft.com/office/officeart/2005/8/layout/process4"/>
    <dgm:cxn modelId="{8FC530F6-98A2-884B-8DCE-CA77E5ABD698}" type="presParOf" srcId="{0B73F9CA-D31E-1A42-90D6-F756746A8952}" destId="{8876E56C-3D97-F240-87BB-3EF86F3971AD}" srcOrd="5" destOrd="0" presId="urn:microsoft.com/office/officeart/2005/8/layout/process4"/>
    <dgm:cxn modelId="{5C6528F9-54F7-D746-9D83-A8C33EA779A1}" type="presParOf" srcId="{0B73F9CA-D31E-1A42-90D6-F756746A8952}" destId="{9A90ACD2-4C9C-5F4B-BB10-343A81F5AE27}" srcOrd="6" destOrd="0" presId="urn:microsoft.com/office/officeart/2005/8/layout/process4"/>
    <dgm:cxn modelId="{0AE49F85-A427-E04A-911B-8DEBA4CECB57}" type="presParOf" srcId="{9A90ACD2-4C9C-5F4B-BB10-343A81F5AE27}" destId="{37391B45-8E10-9043-B3C0-149119576A32}" srcOrd="0" destOrd="0" presId="urn:microsoft.com/office/officeart/2005/8/layout/process4"/>
    <dgm:cxn modelId="{D8C3193E-BF7A-8E4A-AF01-845CD19247B7}" type="presParOf" srcId="{0B73F9CA-D31E-1A42-90D6-F756746A8952}" destId="{4D5B002F-D25E-6C46-B7B4-F91017266415}" srcOrd="7" destOrd="0" presId="urn:microsoft.com/office/officeart/2005/8/layout/process4"/>
    <dgm:cxn modelId="{CFED82A8-7E74-0040-9970-9DD64C075048}" type="presParOf" srcId="{0B73F9CA-D31E-1A42-90D6-F756746A8952}" destId="{63EFB24B-E2C4-9347-B44C-15B92B6A493F}" srcOrd="8" destOrd="0" presId="urn:microsoft.com/office/officeart/2005/8/layout/process4"/>
    <dgm:cxn modelId="{8BE1E3EC-B705-2F4C-B38C-CE4656B4A16E}" type="presParOf" srcId="{63EFB24B-E2C4-9347-B44C-15B92B6A493F}" destId="{97ED8255-1385-CA44-8B06-75D4C9A0D67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0B7A5F-007A-407F-B0A3-CA336E03D04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8DA204-CACE-4421-8A56-20DB492928C5}">
      <dgm:prSet custT="1"/>
      <dgm:spPr/>
      <dgm:t>
        <a:bodyPr/>
        <a:lstStyle/>
        <a:p>
          <a:r>
            <a:rPr lang="en-US" sz="1600" b="1" dirty="0"/>
            <a:t>Descriptive Analysis</a:t>
          </a:r>
          <a:endParaRPr lang="en-US" sz="1600" dirty="0"/>
        </a:p>
      </dgm:t>
    </dgm:pt>
    <dgm:pt modelId="{61A80623-DD5B-4EEE-83F7-E639D8A7C8B7}" type="parTrans" cxnId="{1673629C-7918-416C-8486-FC6DE08CAF02}">
      <dgm:prSet/>
      <dgm:spPr/>
      <dgm:t>
        <a:bodyPr/>
        <a:lstStyle/>
        <a:p>
          <a:endParaRPr lang="en-US"/>
        </a:p>
      </dgm:t>
    </dgm:pt>
    <dgm:pt modelId="{4265CE5D-B4DB-4611-9B3F-20FEB0354A3B}" type="sibTrans" cxnId="{1673629C-7918-416C-8486-FC6DE08CAF02}">
      <dgm:prSet/>
      <dgm:spPr/>
      <dgm:t>
        <a:bodyPr/>
        <a:lstStyle/>
        <a:p>
          <a:endParaRPr lang="en-US"/>
        </a:p>
      </dgm:t>
    </dgm:pt>
    <dgm:pt modelId="{207AD013-A57E-4D6C-B590-B2489B60F0AC}">
      <dgm:prSet/>
      <dgm:spPr/>
      <dgm:t>
        <a:bodyPr/>
        <a:lstStyle/>
        <a:p>
          <a:r>
            <a:rPr lang="en-US" dirty="0"/>
            <a:t>• Mean, median, and standard deviation  </a:t>
          </a:r>
        </a:p>
      </dgm:t>
    </dgm:pt>
    <dgm:pt modelId="{D091248C-00FD-462F-B8DA-664F19B8826C}" type="parTrans" cxnId="{DF792779-DF16-4173-9E23-488CEFAC212F}">
      <dgm:prSet/>
      <dgm:spPr/>
      <dgm:t>
        <a:bodyPr/>
        <a:lstStyle/>
        <a:p>
          <a:endParaRPr lang="en-US"/>
        </a:p>
      </dgm:t>
    </dgm:pt>
    <dgm:pt modelId="{17F12C18-6589-4D8B-8D7E-DEB311CA1CB2}" type="sibTrans" cxnId="{DF792779-DF16-4173-9E23-488CEFAC212F}">
      <dgm:prSet/>
      <dgm:spPr/>
      <dgm:t>
        <a:bodyPr/>
        <a:lstStyle/>
        <a:p>
          <a:endParaRPr lang="en-US"/>
        </a:p>
      </dgm:t>
    </dgm:pt>
    <dgm:pt modelId="{38C7E16A-D512-4337-991D-A486E8DC1E33}">
      <dgm:prSet/>
      <dgm:spPr/>
      <dgm:t>
        <a:bodyPr/>
        <a:lstStyle/>
        <a:p>
          <a:r>
            <a:rPr lang="en-US" dirty="0"/>
            <a:t>• Minimum and maximum values  </a:t>
          </a:r>
        </a:p>
      </dgm:t>
    </dgm:pt>
    <dgm:pt modelId="{CE76477F-B45E-4C78-8B1C-C9F5C2497798}" type="parTrans" cxnId="{3940B347-547C-4B35-B4A2-1AD742C7643B}">
      <dgm:prSet/>
      <dgm:spPr/>
      <dgm:t>
        <a:bodyPr/>
        <a:lstStyle/>
        <a:p>
          <a:endParaRPr lang="en-US"/>
        </a:p>
      </dgm:t>
    </dgm:pt>
    <dgm:pt modelId="{ACE64AC9-DD2F-4488-A47D-C94C24783BC4}" type="sibTrans" cxnId="{3940B347-547C-4B35-B4A2-1AD742C7643B}">
      <dgm:prSet/>
      <dgm:spPr/>
      <dgm:t>
        <a:bodyPr/>
        <a:lstStyle/>
        <a:p>
          <a:endParaRPr lang="en-US"/>
        </a:p>
      </dgm:t>
    </dgm:pt>
    <dgm:pt modelId="{CFFB7241-376F-4A69-A203-9893CEF0ECCE}">
      <dgm:prSet/>
      <dgm:spPr/>
      <dgm:t>
        <a:bodyPr/>
        <a:lstStyle/>
        <a:p>
          <a:r>
            <a:rPr lang="en-US" dirty="0"/>
            <a:t>• Histograms to examine shape  </a:t>
          </a:r>
        </a:p>
      </dgm:t>
    </dgm:pt>
    <dgm:pt modelId="{585B4202-7431-44E1-A320-62BC53BEB1EC}" type="parTrans" cxnId="{B3D0347C-F802-4246-84E5-AFF11A94FE99}">
      <dgm:prSet/>
      <dgm:spPr/>
      <dgm:t>
        <a:bodyPr/>
        <a:lstStyle/>
        <a:p>
          <a:endParaRPr lang="en-US"/>
        </a:p>
      </dgm:t>
    </dgm:pt>
    <dgm:pt modelId="{38EF67C4-8F7F-447E-9D09-8B303E0ADACE}" type="sibTrans" cxnId="{B3D0347C-F802-4246-84E5-AFF11A94FE99}">
      <dgm:prSet/>
      <dgm:spPr/>
      <dgm:t>
        <a:bodyPr/>
        <a:lstStyle/>
        <a:p>
          <a:endParaRPr lang="en-US"/>
        </a:p>
      </dgm:t>
    </dgm:pt>
    <dgm:pt modelId="{09F4F696-81C5-4E9C-A79A-E31E6477E337}">
      <dgm:prSet/>
      <dgm:spPr/>
      <dgm:t>
        <a:bodyPr/>
        <a:lstStyle/>
        <a:p>
          <a:r>
            <a:rPr lang="en-US"/>
            <a:t>• Skewness to detect asymmetry  </a:t>
          </a:r>
        </a:p>
      </dgm:t>
    </dgm:pt>
    <dgm:pt modelId="{D100FEB1-F2AA-452F-B9DB-A0AFBB30AC02}" type="parTrans" cxnId="{C00A7D77-74F6-48D1-A8C9-8251AD2CB938}">
      <dgm:prSet/>
      <dgm:spPr/>
      <dgm:t>
        <a:bodyPr/>
        <a:lstStyle/>
        <a:p>
          <a:endParaRPr lang="en-US"/>
        </a:p>
      </dgm:t>
    </dgm:pt>
    <dgm:pt modelId="{AF5583FA-5040-4D28-9CE3-8AC875DA0439}" type="sibTrans" cxnId="{C00A7D77-74F6-48D1-A8C9-8251AD2CB938}">
      <dgm:prSet/>
      <dgm:spPr/>
      <dgm:t>
        <a:bodyPr/>
        <a:lstStyle/>
        <a:p>
          <a:endParaRPr lang="en-US"/>
        </a:p>
      </dgm:t>
    </dgm:pt>
    <dgm:pt modelId="{9DD6FEF2-2188-4451-BA7D-0F2AFFB643C6}">
      <dgm:prSet/>
      <dgm:spPr/>
      <dgm:t>
        <a:bodyPr/>
        <a:lstStyle/>
        <a:p>
          <a:r>
            <a:rPr lang="en-US" dirty="0"/>
            <a:t>• Boxplots to identify outliers</a:t>
          </a:r>
        </a:p>
      </dgm:t>
    </dgm:pt>
    <dgm:pt modelId="{268FE4B3-9D73-4311-9728-F6C26433D84B}" type="parTrans" cxnId="{272C493C-4134-46EE-B145-5DF40E3D696E}">
      <dgm:prSet/>
      <dgm:spPr/>
      <dgm:t>
        <a:bodyPr/>
        <a:lstStyle/>
        <a:p>
          <a:endParaRPr lang="en-US"/>
        </a:p>
      </dgm:t>
    </dgm:pt>
    <dgm:pt modelId="{88E4C331-4451-4923-80A8-8CE45EDDC211}" type="sibTrans" cxnId="{272C493C-4134-46EE-B145-5DF40E3D696E}">
      <dgm:prSet/>
      <dgm:spPr/>
      <dgm:t>
        <a:bodyPr/>
        <a:lstStyle/>
        <a:p>
          <a:endParaRPr lang="en-US"/>
        </a:p>
      </dgm:t>
    </dgm:pt>
    <dgm:pt modelId="{BE855E86-2671-423B-A63E-BCA6F8117A3F}">
      <dgm:prSet custT="1"/>
      <dgm:spPr/>
      <dgm:t>
        <a:bodyPr/>
        <a:lstStyle/>
        <a:p>
          <a:r>
            <a:rPr lang="en-US" sz="1600" b="1"/>
            <a:t>Distribution Analysis</a:t>
          </a:r>
          <a:endParaRPr lang="en-US" sz="1600"/>
        </a:p>
      </dgm:t>
    </dgm:pt>
    <dgm:pt modelId="{02D131B7-9D52-47C4-AFB1-D25606A4A60B}" type="sibTrans" cxnId="{C087791E-DECC-4208-B635-D533C2102B7A}">
      <dgm:prSet/>
      <dgm:spPr/>
      <dgm:t>
        <a:bodyPr/>
        <a:lstStyle/>
        <a:p>
          <a:endParaRPr lang="en-US"/>
        </a:p>
      </dgm:t>
    </dgm:pt>
    <dgm:pt modelId="{D635AF5B-3213-4F87-9005-F44309483C13}" type="parTrans" cxnId="{C087791E-DECC-4208-B635-D533C2102B7A}">
      <dgm:prSet/>
      <dgm:spPr/>
      <dgm:t>
        <a:bodyPr/>
        <a:lstStyle/>
        <a:p>
          <a:endParaRPr lang="en-US"/>
        </a:p>
      </dgm:t>
    </dgm:pt>
    <dgm:pt modelId="{68F0FA84-A190-F743-8A97-B5B77EE40049}" type="pres">
      <dgm:prSet presAssocID="{DF0B7A5F-007A-407F-B0A3-CA336E03D049}" presName="Name0" presStyleCnt="0">
        <dgm:presLayoutVars>
          <dgm:dir/>
          <dgm:animLvl val="lvl"/>
          <dgm:resizeHandles val="exact"/>
        </dgm:presLayoutVars>
      </dgm:prSet>
      <dgm:spPr/>
    </dgm:pt>
    <dgm:pt modelId="{4D055168-1690-794F-8032-71C414DFACAD}" type="pres">
      <dgm:prSet presAssocID="{8B8DA204-CACE-4421-8A56-20DB492928C5}" presName="linNode" presStyleCnt="0"/>
      <dgm:spPr/>
    </dgm:pt>
    <dgm:pt modelId="{1E978766-7D7A-F04D-93D2-9A41A70F5459}" type="pres">
      <dgm:prSet presAssocID="{8B8DA204-CACE-4421-8A56-20DB492928C5}" presName="parentText" presStyleLbl="node1" presStyleIdx="0" presStyleCnt="7" custLinFactNeighborX="-61043" custLinFactNeighborY="-445">
        <dgm:presLayoutVars>
          <dgm:chMax val="1"/>
          <dgm:bulletEnabled val="1"/>
        </dgm:presLayoutVars>
      </dgm:prSet>
      <dgm:spPr/>
    </dgm:pt>
    <dgm:pt modelId="{2BC8E856-81E0-C94E-A616-34A9C967DFBC}" type="pres">
      <dgm:prSet presAssocID="{4265CE5D-B4DB-4611-9B3F-20FEB0354A3B}" presName="sp" presStyleCnt="0"/>
      <dgm:spPr/>
    </dgm:pt>
    <dgm:pt modelId="{AFA57532-9665-5D47-B261-8AB09CD1C976}" type="pres">
      <dgm:prSet presAssocID="{207AD013-A57E-4D6C-B590-B2489B60F0AC}" presName="linNode" presStyleCnt="0"/>
      <dgm:spPr/>
    </dgm:pt>
    <dgm:pt modelId="{09FC4705-50D2-A843-8FCB-6A84E8E4E1CF}" type="pres">
      <dgm:prSet presAssocID="{207AD013-A57E-4D6C-B590-B2489B60F0AC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9CCD9051-6548-F740-8EF9-B10E4C8E6BF1}" type="pres">
      <dgm:prSet presAssocID="{17F12C18-6589-4D8B-8D7E-DEB311CA1CB2}" presName="sp" presStyleCnt="0"/>
      <dgm:spPr/>
    </dgm:pt>
    <dgm:pt modelId="{0AA8B5B0-829F-124C-A915-ED1A9E2B6498}" type="pres">
      <dgm:prSet presAssocID="{38C7E16A-D512-4337-991D-A486E8DC1E33}" presName="linNode" presStyleCnt="0"/>
      <dgm:spPr/>
    </dgm:pt>
    <dgm:pt modelId="{9BD1C8B3-19F0-A14E-B73C-5646D16B3F5C}" type="pres">
      <dgm:prSet presAssocID="{38C7E16A-D512-4337-991D-A486E8DC1E33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28906ABA-E71E-CD42-87DF-4EDFC4465BB4}" type="pres">
      <dgm:prSet presAssocID="{ACE64AC9-DD2F-4488-A47D-C94C24783BC4}" presName="sp" presStyleCnt="0"/>
      <dgm:spPr/>
    </dgm:pt>
    <dgm:pt modelId="{68C6507D-E677-DD45-B85B-A77DDB963A34}" type="pres">
      <dgm:prSet presAssocID="{BE855E86-2671-423B-A63E-BCA6F8117A3F}" presName="linNode" presStyleCnt="0"/>
      <dgm:spPr/>
    </dgm:pt>
    <dgm:pt modelId="{59A0B5E7-D9C9-104B-AC6C-908AD95CDFF5}" type="pres">
      <dgm:prSet presAssocID="{BE855E86-2671-423B-A63E-BCA6F8117A3F}" presName="parentText" presStyleLbl="node1" presStyleIdx="3" presStyleCnt="7" custLinFactNeighborX="-56287">
        <dgm:presLayoutVars>
          <dgm:chMax val="1"/>
          <dgm:bulletEnabled val="1"/>
        </dgm:presLayoutVars>
      </dgm:prSet>
      <dgm:spPr/>
    </dgm:pt>
    <dgm:pt modelId="{654B217B-E07E-9F45-931E-10823F100AC1}" type="pres">
      <dgm:prSet presAssocID="{02D131B7-9D52-47C4-AFB1-D25606A4A60B}" presName="sp" presStyleCnt="0"/>
      <dgm:spPr/>
    </dgm:pt>
    <dgm:pt modelId="{E5474170-217C-B24B-AD6F-57D0C43DA927}" type="pres">
      <dgm:prSet presAssocID="{CFFB7241-376F-4A69-A203-9893CEF0ECCE}" presName="linNode" presStyleCnt="0"/>
      <dgm:spPr/>
    </dgm:pt>
    <dgm:pt modelId="{BD293B66-7297-5A40-BF84-EFB3EB895782}" type="pres">
      <dgm:prSet presAssocID="{CFFB7241-376F-4A69-A203-9893CEF0ECCE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AE7E6241-7B05-4B4A-9649-730C1F39DBED}" type="pres">
      <dgm:prSet presAssocID="{38EF67C4-8F7F-447E-9D09-8B303E0ADACE}" presName="sp" presStyleCnt="0"/>
      <dgm:spPr/>
    </dgm:pt>
    <dgm:pt modelId="{401BB6B5-04CD-9347-9FC3-4717BF250B55}" type="pres">
      <dgm:prSet presAssocID="{09F4F696-81C5-4E9C-A79A-E31E6477E337}" presName="linNode" presStyleCnt="0"/>
      <dgm:spPr/>
    </dgm:pt>
    <dgm:pt modelId="{31FE2376-EC62-D24F-9FC4-4127CD8B60AA}" type="pres">
      <dgm:prSet presAssocID="{09F4F696-81C5-4E9C-A79A-E31E6477E337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2596CE31-8691-E047-A1C7-3055BD504A71}" type="pres">
      <dgm:prSet presAssocID="{AF5583FA-5040-4D28-9CE3-8AC875DA0439}" presName="sp" presStyleCnt="0"/>
      <dgm:spPr/>
    </dgm:pt>
    <dgm:pt modelId="{02CCC014-7775-574B-B106-EEF808EE02E1}" type="pres">
      <dgm:prSet presAssocID="{9DD6FEF2-2188-4451-BA7D-0F2AFFB643C6}" presName="linNode" presStyleCnt="0"/>
      <dgm:spPr/>
    </dgm:pt>
    <dgm:pt modelId="{01E80172-48E9-7A4F-AE77-E3E3BE5A0885}" type="pres">
      <dgm:prSet presAssocID="{9DD6FEF2-2188-4451-BA7D-0F2AFFB643C6}" presName="parentText" presStyleLbl="node1" presStyleIdx="6" presStyleCnt="7">
        <dgm:presLayoutVars>
          <dgm:chMax val="1"/>
          <dgm:bulletEnabled val="1"/>
        </dgm:presLayoutVars>
      </dgm:prSet>
      <dgm:spPr/>
    </dgm:pt>
  </dgm:ptLst>
  <dgm:cxnLst>
    <dgm:cxn modelId="{B928121B-F3F9-FF4A-BA54-E8370BF76644}" type="presOf" srcId="{8B8DA204-CACE-4421-8A56-20DB492928C5}" destId="{1E978766-7D7A-F04D-93D2-9A41A70F5459}" srcOrd="0" destOrd="0" presId="urn:microsoft.com/office/officeart/2005/8/layout/vList5"/>
    <dgm:cxn modelId="{C087791E-DECC-4208-B635-D533C2102B7A}" srcId="{DF0B7A5F-007A-407F-B0A3-CA336E03D049}" destId="{BE855E86-2671-423B-A63E-BCA6F8117A3F}" srcOrd="3" destOrd="0" parTransId="{D635AF5B-3213-4F87-9005-F44309483C13}" sibTransId="{02D131B7-9D52-47C4-AFB1-D25606A4A60B}"/>
    <dgm:cxn modelId="{90E12728-49AE-3C46-9C99-34D2EBECD9CC}" type="presOf" srcId="{09F4F696-81C5-4E9C-A79A-E31E6477E337}" destId="{31FE2376-EC62-D24F-9FC4-4127CD8B60AA}" srcOrd="0" destOrd="0" presId="urn:microsoft.com/office/officeart/2005/8/layout/vList5"/>
    <dgm:cxn modelId="{F2A5072B-674B-BF48-920A-41C6F1A414A4}" type="presOf" srcId="{207AD013-A57E-4D6C-B590-B2489B60F0AC}" destId="{09FC4705-50D2-A843-8FCB-6A84E8E4E1CF}" srcOrd="0" destOrd="0" presId="urn:microsoft.com/office/officeart/2005/8/layout/vList5"/>
    <dgm:cxn modelId="{272C493C-4134-46EE-B145-5DF40E3D696E}" srcId="{DF0B7A5F-007A-407F-B0A3-CA336E03D049}" destId="{9DD6FEF2-2188-4451-BA7D-0F2AFFB643C6}" srcOrd="6" destOrd="0" parTransId="{268FE4B3-9D73-4311-9728-F6C26433D84B}" sibTransId="{88E4C331-4451-4923-80A8-8CE45EDDC211}"/>
    <dgm:cxn modelId="{3BBAB643-FA89-2442-BFE3-AEFBF7245891}" type="presOf" srcId="{38C7E16A-D512-4337-991D-A486E8DC1E33}" destId="{9BD1C8B3-19F0-A14E-B73C-5646D16B3F5C}" srcOrd="0" destOrd="0" presId="urn:microsoft.com/office/officeart/2005/8/layout/vList5"/>
    <dgm:cxn modelId="{3940B347-547C-4B35-B4A2-1AD742C7643B}" srcId="{DF0B7A5F-007A-407F-B0A3-CA336E03D049}" destId="{38C7E16A-D512-4337-991D-A486E8DC1E33}" srcOrd="2" destOrd="0" parTransId="{CE76477F-B45E-4C78-8B1C-C9F5C2497798}" sibTransId="{ACE64AC9-DD2F-4488-A47D-C94C24783BC4}"/>
    <dgm:cxn modelId="{5D0D1051-4DA9-D743-B6B2-21FA00F31DB4}" type="presOf" srcId="{CFFB7241-376F-4A69-A203-9893CEF0ECCE}" destId="{BD293B66-7297-5A40-BF84-EFB3EB895782}" srcOrd="0" destOrd="0" presId="urn:microsoft.com/office/officeart/2005/8/layout/vList5"/>
    <dgm:cxn modelId="{1350705E-BA42-4D46-A5CA-1C483218A4D0}" type="presOf" srcId="{BE855E86-2671-423B-A63E-BCA6F8117A3F}" destId="{59A0B5E7-D9C9-104B-AC6C-908AD95CDFF5}" srcOrd="0" destOrd="0" presId="urn:microsoft.com/office/officeart/2005/8/layout/vList5"/>
    <dgm:cxn modelId="{C00A7D77-74F6-48D1-A8C9-8251AD2CB938}" srcId="{DF0B7A5F-007A-407F-B0A3-CA336E03D049}" destId="{09F4F696-81C5-4E9C-A79A-E31E6477E337}" srcOrd="5" destOrd="0" parTransId="{D100FEB1-F2AA-452F-B9DB-A0AFBB30AC02}" sibTransId="{AF5583FA-5040-4D28-9CE3-8AC875DA0439}"/>
    <dgm:cxn modelId="{DF792779-DF16-4173-9E23-488CEFAC212F}" srcId="{DF0B7A5F-007A-407F-B0A3-CA336E03D049}" destId="{207AD013-A57E-4D6C-B590-B2489B60F0AC}" srcOrd="1" destOrd="0" parTransId="{D091248C-00FD-462F-B8DA-664F19B8826C}" sibTransId="{17F12C18-6589-4D8B-8D7E-DEB311CA1CB2}"/>
    <dgm:cxn modelId="{B3D0347C-F802-4246-84E5-AFF11A94FE99}" srcId="{DF0B7A5F-007A-407F-B0A3-CA336E03D049}" destId="{CFFB7241-376F-4A69-A203-9893CEF0ECCE}" srcOrd="4" destOrd="0" parTransId="{585B4202-7431-44E1-A320-62BC53BEB1EC}" sibTransId="{38EF67C4-8F7F-447E-9D09-8B303E0ADACE}"/>
    <dgm:cxn modelId="{1673629C-7918-416C-8486-FC6DE08CAF02}" srcId="{DF0B7A5F-007A-407F-B0A3-CA336E03D049}" destId="{8B8DA204-CACE-4421-8A56-20DB492928C5}" srcOrd="0" destOrd="0" parTransId="{61A80623-DD5B-4EEE-83F7-E639D8A7C8B7}" sibTransId="{4265CE5D-B4DB-4611-9B3F-20FEB0354A3B}"/>
    <dgm:cxn modelId="{71592BF1-A276-3E4A-8383-EC317F252C6F}" type="presOf" srcId="{9DD6FEF2-2188-4451-BA7D-0F2AFFB643C6}" destId="{01E80172-48E9-7A4F-AE77-E3E3BE5A0885}" srcOrd="0" destOrd="0" presId="urn:microsoft.com/office/officeart/2005/8/layout/vList5"/>
    <dgm:cxn modelId="{084C8EFB-239C-134E-9B96-2AA7623EB214}" type="presOf" srcId="{DF0B7A5F-007A-407F-B0A3-CA336E03D049}" destId="{68F0FA84-A190-F743-8A97-B5B77EE40049}" srcOrd="0" destOrd="0" presId="urn:microsoft.com/office/officeart/2005/8/layout/vList5"/>
    <dgm:cxn modelId="{9AE4049C-613E-F444-8D91-38DAC2EC1AD1}" type="presParOf" srcId="{68F0FA84-A190-F743-8A97-B5B77EE40049}" destId="{4D055168-1690-794F-8032-71C414DFACAD}" srcOrd="0" destOrd="0" presId="urn:microsoft.com/office/officeart/2005/8/layout/vList5"/>
    <dgm:cxn modelId="{C451B591-4FDC-2446-B86C-83B6D6E16C89}" type="presParOf" srcId="{4D055168-1690-794F-8032-71C414DFACAD}" destId="{1E978766-7D7A-F04D-93D2-9A41A70F5459}" srcOrd="0" destOrd="0" presId="urn:microsoft.com/office/officeart/2005/8/layout/vList5"/>
    <dgm:cxn modelId="{6E072E5C-FC10-6840-8060-DB66A65B8782}" type="presParOf" srcId="{68F0FA84-A190-F743-8A97-B5B77EE40049}" destId="{2BC8E856-81E0-C94E-A616-34A9C967DFBC}" srcOrd="1" destOrd="0" presId="urn:microsoft.com/office/officeart/2005/8/layout/vList5"/>
    <dgm:cxn modelId="{48879EDF-5A5E-9944-9166-816CD80BC42F}" type="presParOf" srcId="{68F0FA84-A190-F743-8A97-B5B77EE40049}" destId="{AFA57532-9665-5D47-B261-8AB09CD1C976}" srcOrd="2" destOrd="0" presId="urn:microsoft.com/office/officeart/2005/8/layout/vList5"/>
    <dgm:cxn modelId="{7A48357D-27BE-8A44-96D8-E30BF8120B3C}" type="presParOf" srcId="{AFA57532-9665-5D47-B261-8AB09CD1C976}" destId="{09FC4705-50D2-A843-8FCB-6A84E8E4E1CF}" srcOrd="0" destOrd="0" presId="urn:microsoft.com/office/officeart/2005/8/layout/vList5"/>
    <dgm:cxn modelId="{6B6B26DE-D5B0-9649-A1AF-F2C7DAED03D0}" type="presParOf" srcId="{68F0FA84-A190-F743-8A97-B5B77EE40049}" destId="{9CCD9051-6548-F740-8EF9-B10E4C8E6BF1}" srcOrd="3" destOrd="0" presId="urn:microsoft.com/office/officeart/2005/8/layout/vList5"/>
    <dgm:cxn modelId="{D72E6E0B-2111-F545-B2F8-B0BA86F5ABD1}" type="presParOf" srcId="{68F0FA84-A190-F743-8A97-B5B77EE40049}" destId="{0AA8B5B0-829F-124C-A915-ED1A9E2B6498}" srcOrd="4" destOrd="0" presId="urn:microsoft.com/office/officeart/2005/8/layout/vList5"/>
    <dgm:cxn modelId="{00264C9E-A496-7242-AAFE-F0B77BDBA059}" type="presParOf" srcId="{0AA8B5B0-829F-124C-A915-ED1A9E2B6498}" destId="{9BD1C8B3-19F0-A14E-B73C-5646D16B3F5C}" srcOrd="0" destOrd="0" presId="urn:microsoft.com/office/officeart/2005/8/layout/vList5"/>
    <dgm:cxn modelId="{73EF2DA7-D180-3B4D-AE3D-9B50C3007CD9}" type="presParOf" srcId="{68F0FA84-A190-F743-8A97-B5B77EE40049}" destId="{28906ABA-E71E-CD42-87DF-4EDFC4465BB4}" srcOrd="5" destOrd="0" presId="urn:microsoft.com/office/officeart/2005/8/layout/vList5"/>
    <dgm:cxn modelId="{00DC2280-DFD0-9E40-B2B8-47DFBA443B21}" type="presParOf" srcId="{68F0FA84-A190-F743-8A97-B5B77EE40049}" destId="{68C6507D-E677-DD45-B85B-A77DDB963A34}" srcOrd="6" destOrd="0" presId="urn:microsoft.com/office/officeart/2005/8/layout/vList5"/>
    <dgm:cxn modelId="{E4FBBE9E-F55B-1B44-AC41-C643F592464F}" type="presParOf" srcId="{68C6507D-E677-DD45-B85B-A77DDB963A34}" destId="{59A0B5E7-D9C9-104B-AC6C-908AD95CDFF5}" srcOrd="0" destOrd="0" presId="urn:microsoft.com/office/officeart/2005/8/layout/vList5"/>
    <dgm:cxn modelId="{70D9D7E1-C110-8848-A77C-FB0EB6473DA8}" type="presParOf" srcId="{68F0FA84-A190-F743-8A97-B5B77EE40049}" destId="{654B217B-E07E-9F45-931E-10823F100AC1}" srcOrd="7" destOrd="0" presId="urn:microsoft.com/office/officeart/2005/8/layout/vList5"/>
    <dgm:cxn modelId="{7862C520-DB72-9F44-AF91-6390453C3342}" type="presParOf" srcId="{68F0FA84-A190-F743-8A97-B5B77EE40049}" destId="{E5474170-217C-B24B-AD6F-57D0C43DA927}" srcOrd="8" destOrd="0" presId="urn:microsoft.com/office/officeart/2005/8/layout/vList5"/>
    <dgm:cxn modelId="{CB4EF9C7-88DE-B846-8E21-CF4C815E0298}" type="presParOf" srcId="{E5474170-217C-B24B-AD6F-57D0C43DA927}" destId="{BD293B66-7297-5A40-BF84-EFB3EB895782}" srcOrd="0" destOrd="0" presId="urn:microsoft.com/office/officeart/2005/8/layout/vList5"/>
    <dgm:cxn modelId="{82696AD3-CB77-734F-8B9A-75B6EE028C02}" type="presParOf" srcId="{68F0FA84-A190-F743-8A97-B5B77EE40049}" destId="{AE7E6241-7B05-4B4A-9649-730C1F39DBED}" srcOrd="9" destOrd="0" presId="urn:microsoft.com/office/officeart/2005/8/layout/vList5"/>
    <dgm:cxn modelId="{AAF11A56-D3CE-0B4A-A027-8EB1EB50A840}" type="presParOf" srcId="{68F0FA84-A190-F743-8A97-B5B77EE40049}" destId="{401BB6B5-04CD-9347-9FC3-4717BF250B55}" srcOrd="10" destOrd="0" presId="urn:microsoft.com/office/officeart/2005/8/layout/vList5"/>
    <dgm:cxn modelId="{0CAD430A-2F6A-1048-8452-D441C923B32D}" type="presParOf" srcId="{401BB6B5-04CD-9347-9FC3-4717BF250B55}" destId="{31FE2376-EC62-D24F-9FC4-4127CD8B60AA}" srcOrd="0" destOrd="0" presId="urn:microsoft.com/office/officeart/2005/8/layout/vList5"/>
    <dgm:cxn modelId="{AFDC3E50-4725-044D-ACBC-216529AEDD89}" type="presParOf" srcId="{68F0FA84-A190-F743-8A97-B5B77EE40049}" destId="{2596CE31-8691-E047-A1C7-3055BD504A71}" srcOrd="11" destOrd="0" presId="urn:microsoft.com/office/officeart/2005/8/layout/vList5"/>
    <dgm:cxn modelId="{02F99D62-CA31-5040-B9CC-3461A97476A8}" type="presParOf" srcId="{68F0FA84-A190-F743-8A97-B5B77EE40049}" destId="{02CCC014-7775-574B-B106-EEF808EE02E1}" srcOrd="12" destOrd="0" presId="urn:microsoft.com/office/officeart/2005/8/layout/vList5"/>
    <dgm:cxn modelId="{C1458612-1D59-CD43-8D38-EB423F66E96F}" type="presParOf" srcId="{02CCC014-7775-574B-B106-EEF808EE02E1}" destId="{01E80172-48E9-7A4F-AE77-E3E3BE5A088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8504B-ABAB-6A47-88CC-C23FC60784A2}">
      <dsp:nvSpPr>
        <dsp:cNvPr id="0" name=""/>
        <dsp:cNvSpPr/>
      </dsp:nvSpPr>
      <dsp:spPr>
        <a:xfrm>
          <a:off x="0" y="2933415"/>
          <a:ext cx="8825659" cy="481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How can we identify patterns that influence approval decisions?</a:t>
          </a:r>
        </a:p>
      </dsp:txBody>
      <dsp:txXfrm>
        <a:off x="0" y="2933415"/>
        <a:ext cx="8825659" cy="481251"/>
      </dsp:txXfrm>
    </dsp:sp>
    <dsp:sp modelId="{F8C0E6A5-40EC-804E-9F1F-3DA7DED15E89}">
      <dsp:nvSpPr>
        <dsp:cNvPr id="0" name=""/>
        <dsp:cNvSpPr/>
      </dsp:nvSpPr>
      <dsp:spPr>
        <a:xfrm rot="10800000">
          <a:off x="0" y="2200470"/>
          <a:ext cx="8825659" cy="74016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Understanding applicant data is critical for accurate approvals</a:t>
          </a:r>
          <a:endParaRPr lang="en-US" sz="2000" b="1" kern="1200" dirty="0"/>
        </a:p>
      </dsp:txBody>
      <dsp:txXfrm rot="10800000">
        <a:off x="0" y="2200470"/>
        <a:ext cx="8825659" cy="480936"/>
      </dsp:txXfrm>
    </dsp:sp>
    <dsp:sp modelId="{C1D306A2-D734-0A41-9541-5529B9950344}">
      <dsp:nvSpPr>
        <dsp:cNvPr id="0" name=""/>
        <dsp:cNvSpPr/>
      </dsp:nvSpPr>
      <dsp:spPr>
        <a:xfrm rot="10800000">
          <a:off x="0" y="1467524"/>
          <a:ext cx="8825659" cy="74016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Data-driven insights help improve decision-making  </a:t>
          </a:r>
          <a:endParaRPr lang="en-US" sz="2000" b="1" kern="1200" dirty="0"/>
        </a:p>
      </dsp:txBody>
      <dsp:txXfrm rot="10800000">
        <a:off x="0" y="1467524"/>
        <a:ext cx="8825659" cy="480936"/>
      </dsp:txXfrm>
    </dsp:sp>
    <dsp:sp modelId="{37391B45-8E10-9043-B3C0-149119576A32}">
      <dsp:nvSpPr>
        <dsp:cNvPr id="0" name=""/>
        <dsp:cNvSpPr/>
      </dsp:nvSpPr>
      <dsp:spPr>
        <a:xfrm rot="10800000">
          <a:off x="0" y="734578"/>
          <a:ext cx="8825659" cy="74016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Incorrect decisions can lead to financial risk or missed potential  </a:t>
          </a:r>
          <a:endParaRPr lang="en-US" sz="2000" b="1" kern="1200" dirty="0"/>
        </a:p>
      </dsp:txBody>
      <dsp:txXfrm rot="10800000">
        <a:off x="0" y="734578"/>
        <a:ext cx="8825659" cy="480936"/>
      </dsp:txXfrm>
    </dsp:sp>
    <dsp:sp modelId="{97ED8255-1385-CA44-8B06-75D4C9A0D676}">
      <dsp:nvSpPr>
        <dsp:cNvPr id="0" name=""/>
        <dsp:cNvSpPr/>
      </dsp:nvSpPr>
      <dsp:spPr>
        <a:xfrm rot="10800000">
          <a:off x="0" y="1633"/>
          <a:ext cx="8825659" cy="740164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dirty="0"/>
            <a:t>Credit approval affects financial access and opportunity</a:t>
          </a:r>
          <a:endParaRPr lang="en-US" sz="2000" b="1" kern="1200" dirty="0"/>
        </a:p>
      </dsp:txBody>
      <dsp:txXfrm rot="10800000">
        <a:off x="0" y="1633"/>
        <a:ext cx="8825659" cy="4809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978766-7D7A-F04D-93D2-9A41A70F5459}">
      <dsp:nvSpPr>
        <dsp:cNvPr id="0" name=""/>
        <dsp:cNvSpPr/>
      </dsp:nvSpPr>
      <dsp:spPr>
        <a:xfrm>
          <a:off x="519843" y="0"/>
          <a:ext cx="1866858" cy="614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Descriptive Analysis</a:t>
          </a:r>
          <a:endParaRPr lang="en-US" sz="1600" kern="1200" dirty="0"/>
        </a:p>
      </dsp:txBody>
      <dsp:txXfrm>
        <a:off x="549855" y="30012"/>
        <a:ext cx="1806834" cy="554771"/>
      </dsp:txXfrm>
    </dsp:sp>
    <dsp:sp modelId="{09FC4705-50D2-A843-8FCB-6A84E8E4E1CF}">
      <dsp:nvSpPr>
        <dsp:cNvPr id="0" name=""/>
        <dsp:cNvSpPr/>
      </dsp:nvSpPr>
      <dsp:spPr>
        <a:xfrm>
          <a:off x="1659429" y="645918"/>
          <a:ext cx="1866858" cy="614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Mean, median, and standard deviation  </a:t>
          </a:r>
        </a:p>
      </dsp:txBody>
      <dsp:txXfrm>
        <a:off x="1689441" y="675930"/>
        <a:ext cx="1806834" cy="554771"/>
      </dsp:txXfrm>
    </dsp:sp>
    <dsp:sp modelId="{9BD1C8B3-19F0-A14E-B73C-5646D16B3F5C}">
      <dsp:nvSpPr>
        <dsp:cNvPr id="0" name=""/>
        <dsp:cNvSpPr/>
      </dsp:nvSpPr>
      <dsp:spPr>
        <a:xfrm>
          <a:off x="1659429" y="1291453"/>
          <a:ext cx="1866858" cy="614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Minimum and maximum values  </a:t>
          </a:r>
        </a:p>
      </dsp:txBody>
      <dsp:txXfrm>
        <a:off x="1689441" y="1321465"/>
        <a:ext cx="1806834" cy="554771"/>
      </dsp:txXfrm>
    </dsp:sp>
    <dsp:sp modelId="{59A0B5E7-D9C9-104B-AC6C-908AD95CDFF5}">
      <dsp:nvSpPr>
        <dsp:cNvPr id="0" name=""/>
        <dsp:cNvSpPr/>
      </dsp:nvSpPr>
      <dsp:spPr>
        <a:xfrm>
          <a:off x="608631" y="1936988"/>
          <a:ext cx="1866858" cy="614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Distribution Analysis</a:t>
          </a:r>
          <a:endParaRPr lang="en-US" sz="1600" kern="1200"/>
        </a:p>
      </dsp:txBody>
      <dsp:txXfrm>
        <a:off x="638643" y="1967000"/>
        <a:ext cx="1806834" cy="554771"/>
      </dsp:txXfrm>
    </dsp:sp>
    <dsp:sp modelId="{BD293B66-7297-5A40-BF84-EFB3EB895782}">
      <dsp:nvSpPr>
        <dsp:cNvPr id="0" name=""/>
        <dsp:cNvSpPr/>
      </dsp:nvSpPr>
      <dsp:spPr>
        <a:xfrm>
          <a:off x="1659429" y="2582523"/>
          <a:ext cx="1866858" cy="614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Histograms to examine shape  </a:t>
          </a:r>
        </a:p>
      </dsp:txBody>
      <dsp:txXfrm>
        <a:off x="1689441" y="2612535"/>
        <a:ext cx="1806834" cy="554771"/>
      </dsp:txXfrm>
    </dsp:sp>
    <dsp:sp modelId="{31FE2376-EC62-D24F-9FC4-4127CD8B60AA}">
      <dsp:nvSpPr>
        <dsp:cNvPr id="0" name=""/>
        <dsp:cNvSpPr/>
      </dsp:nvSpPr>
      <dsp:spPr>
        <a:xfrm>
          <a:off x="1659429" y="3228059"/>
          <a:ext cx="1866858" cy="614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• Skewness to detect asymmetry  </a:t>
          </a:r>
        </a:p>
      </dsp:txBody>
      <dsp:txXfrm>
        <a:off x="1689441" y="3258071"/>
        <a:ext cx="1806834" cy="554771"/>
      </dsp:txXfrm>
    </dsp:sp>
    <dsp:sp modelId="{01E80172-48E9-7A4F-AE77-E3E3BE5A0885}">
      <dsp:nvSpPr>
        <dsp:cNvPr id="0" name=""/>
        <dsp:cNvSpPr/>
      </dsp:nvSpPr>
      <dsp:spPr>
        <a:xfrm>
          <a:off x="1659429" y="3873594"/>
          <a:ext cx="1866858" cy="614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• Boxplots to identify outliers</a:t>
          </a:r>
        </a:p>
      </dsp:txBody>
      <dsp:txXfrm>
        <a:off x="1689441" y="3903606"/>
        <a:ext cx="1806834" cy="5547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E0FFD-70F6-5E48-8C44-54D589845486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595C92-CEC4-EE49-AC27-5AE81E3EEC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63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95C92-CEC4-EE49-AC27-5AE81E3EEC0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270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95C92-CEC4-EE49-AC27-5AE81E3EEC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35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95C92-CEC4-EE49-AC27-5AE81E3EEC0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58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95C92-CEC4-EE49-AC27-5AE81E3EEC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7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95C92-CEC4-EE49-AC27-5AE81E3EEC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07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595C92-CEC4-EE49-AC27-5AE81E3EEC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3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56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  <p:sldLayoutId id="2147483674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samuelcortinhas/credit-card-approval-clean-dat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2F344-FBE1-29E0-7CF8-ED144BD87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055" y="518984"/>
            <a:ext cx="9897761" cy="1952367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on Credit Card Approval</a:t>
            </a:r>
            <a:b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Patterns, Distributions, and Approval Decisions</a:t>
            </a:r>
            <a:b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96C841-EF69-86CC-8B1F-5415784EF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503" y="2471351"/>
            <a:ext cx="5663513" cy="3484605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Niranjan K C </a:t>
            </a:r>
            <a:b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CIS 468</a:t>
            </a:r>
            <a:b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McGuire </a:t>
            </a:r>
            <a:b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  <p:pic>
        <p:nvPicPr>
          <p:cNvPr id="4" name="Picture Placeholder 5" descr="A person sitting at a table with food&#10;&#10;Description generated with high confidence">
            <a:extLst>
              <a:ext uri="{FF2B5EF4-FFF2-40B4-BE49-F238E27FC236}">
                <a16:creationId xmlns:a16="http://schemas.microsoft.com/office/drawing/2014/main" id="{0346005A-D1D3-F879-9DE8-E71CC857A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7" r="22287"/>
          <a:stretch>
            <a:fillRect/>
          </a:stretch>
        </p:blipFill>
        <p:spPr>
          <a:xfrm>
            <a:off x="5177481" y="1767016"/>
            <a:ext cx="6458464" cy="4572000"/>
          </a:xfrm>
          <a:custGeom>
            <a:avLst/>
            <a:gdLst>
              <a:gd name="connsiteX0" fmla="*/ 3905331 w 6376889"/>
              <a:gd name="connsiteY0" fmla="*/ 1 h 6281430"/>
              <a:gd name="connsiteX1" fmla="*/ 4905161 w 6376889"/>
              <a:gd name="connsiteY1" fmla="*/ 19262 h 6281430"/>
              <a:gd name="connsiteX2" fmla="*/ 5021568 w 6376889"/>
              <a:gd name="connsiteY2" fmla="*/ 27509 h 6281430"/>
              <a:gd name="connsiteX3" fmla="*/ 5009526 w 6376889"/>
              <a:gd name="connsiteY3" fmla="*/ 145715 h 6281430"/>
              <a:gd name="connsiteX4" fmla="*/ 5127271 w 6376889"/>
              <a:gd name="connsiteY4" fmla="*/ 155337 h 6281430"/>
              <a:gd name="connsiteX5" fmla="*/ 5032272 w 6376889"/>
              <a:gd name="connsiteY5" fmla="*/ 389000 h 6281430"/>
              <a:gd name="connsiteX6" fmla="*/ 4764670 w 6376889"/>
              <a:gd name="connsiteY6" fmla="*/ 706507 h 6281430"/>
              <a:gd name="connsiteX7" fmla="*/ 6363595 w 6376889"/>
              <a:gd name="connsiteY7" fmla="*/ 882441 h 6281430"/>
              <a:gd name="connsiteX8" fmla="*/ 6077260 w 6376889"/>
              <a:gd name="connsiteY8" fmla="*/ 1217816 h 6281430"/>
              <a:gd name="connsiteX9" fmla="*/ 6053176 w 6376889"/>
              <a:gd name="connsiteY9" fmla="*/ 1345644 h 6281430"/>
              <a:gd name="connsiteX10" fmla="*/ 5873883 w 6376889"/>
              <a:gd name="connsiteY10" fmla="*/ 1670023 h 6281430"/>
              <a:gd name="connsiteX11" fmla="*/ 5515295 w 6376889"/>
              <a:gd name="connsiteY11" fmla="*/ 1971036 h 6281430"/>
              <a:gd name="connsiteX12" fmla="*/ 5426986 w 6376889"/>
              <a:gd name="connsiteY12" fmla="*/ 2168962 h 6281430"/>
              <a:gd name="connsiteX13" fmla="*/ 5425648 w 6376889"/>
              <a:gd name="connsiteY13" fmla="*/ 2168962 h 6281430"/>
              <a:gd name="connsiteX14" fmla="*/ 3128280 w 6376889"/>
              <a:gd name="connsiteY14" fmla="*/ 2641786 h 6281430"/>
              <a:gd name="connsiteX15" fmla="*/ 5444380 w 6376889"/>
              <a:gd name="connsiteY15" fmla="*/ 2228065 h 6281430"/>
              <a:gd name="connsiteX16" fmla="*/ 5756137 w 6376889"/>
              <a:gd name="connsiteY16" fmla="*/ 2241810 h 6281430"/>
              <a:gd name="connsiteX17" fmla="*/ 5758813 w 6376889"/>
              <a:gd name="connsiteY17" fmla="*/ 2241810 h 6281430"/>
              <a:gd name="connsiteX18" fmla="*/ 6061204 w 6376889"/>
              <a:gd name="connsiteY18" fmla="*/ 2218443 h 6281430"/>
              <a:gd name="connsiteX19" fmla="*/ 6067894 w 6376889"/>
              <a:gd name="connsiteY19" fmla="*/ 2265176 h 6281430"/>
              <a:gd name="connsiteX20" fmla="*/ 6363595 w 6376889"/>
              <a:gd name="connsiteY20" fmla="*/ 2328403 h 6281430"/>
              <a:gd name="connsiteX21" fmla="*/ 6077260 w 6376889"/>
              <a:gd name="connsiteY21" fmla="*/ 2663778 h 6281430"/>
              <a:gd name="connsiteX22" fmla="*/ 6053176 w 6376889"/>
              <a:gd name="connsiteY22" fmla="*/ 2791605 h 6281430"/>
              <a:gd name="connsiteX23" fmla="*/ 5873883 w 6376889"/>
              <a:gd name="connsiteY23" fmla="*/ 3115984 h 6281430"/>
              <a:gd name="connsiteX24" fmla="*/ 5515295 w 6376889"/>
              <a:gd name="connsiteY24" fmla="*/ 3416997 h 6281430"/>
              <a:gd name="connsiteX25" fmla="*/ 5413606 w 6376889"/>
              <a:gd name="connsiteY25" fmla="*/ 3665779 h 6281430"/>
              <a:gd name="connsiteX26" fmla="*/ 5378818 w 6376889"/>
              <a:gd name="connsiteY26" fmla="*/ 3669903 h 6281430"/>
              <a:gd name="connsiteX27" fmla="*/ 5117905 w 6376889"/>
              <a:gd name="connsiteY27" fmla="*/ 3726257 h 6281430"/>
              <a:gd name="connsiteX28" fmla="*/ 4870373 w 6376889"/>
              <a:gd name="connsiteY28" fmla="*/ 3785360 h 6281430"/>
              <a:gd name="connsiteX29" fmla="*/ 4181296 w 6376889"/>
              <a:gd name="connsiteY29" fmla="*/ 3986035 h 6281430"/>
              <a:gd name="connsiteX30" fmla="*/ 5758813 w 6376889"/>
              <a:gd name="connsiteY30" fmla="*/ 3687771 h 6281430"/>
              <a:gd name="connsiteX31" fmla="*/ 6061204 w 6376889"/>
              <a:gd name="connsiteY31" fmla="*/ 3664405 h 6281430"/>
              <a:gd name="connsiteX32" fmla="*/ 5558112 w 6376889"/>
              <a:gd name="connsiteY32" fmla="*/ 4252686 h 6281430"/>
              <a:gd name="connsiteX33" fmla="*/ 5469803 w 6376889"/>
              <a:gd name="connsiteY33" fmla="*/ 4541328 h 6281430"/>
              <a:gd name="connsiteX34" fmla="*/ 4870373 w 6376889"/>
              <a:gd name="connsiteY34" fmla="*/ 5231321 h 6281430"/>
              <a:gd name="connsiteX35" fmla="*/ 1182810 w 6376889"/>
              <a:gd name="connsiteY35" fmla="*/ 6281430 h 6281430"/>
              <a:gd name="connsiteX36" fmla="*/ 1524003 w 6376889"/>
              <a:gd name="connsiteY36" fmla="*/ 5535083 h 6281430"/>
              <a:gd name="connsiteX37" fmla="*/ 3510952 w 6376889"/>
              <a:gd name="connsiteY37" fmla="*/ 5114490 h 6281430"/>
              <a:gd name="connsiteX38" fmla="*/ 1503933 w 6376889"/>
              <a:gd name="connsiteY38" fmla="*/ 5497972 h 6281430"/>
              <a:gd name="connsiteX39" fmla="*/ 1482524 w 6376889"/>
              <a:gd name="connsiteY39" fmla="*/ 5502096 h 6281430"/>
              <a:gd name="connsiteX40" fmla="*/ 309087 w 6376889"/>
              <a:gd name="connsiteY40" fmla="*/ 5585939 h 6281430"/>
              <a:gd name="connsiteX41" fmla="*/ 259581 w 6376889"/>
              <a:gd name="connsiteY41" fmla="*/ 5506219 h 6281430"/>
              <a:gd name="connsiteX42" fmla="*/ 301059 w 6376889"/>
              <a:gd name="connsiteY42" fmla="*/ 5174967 h 6281430"/>
              <a:gd name="connsiteX43" fmla="*/ 313101 w 6376889"/>
              <a:gd name="connsiteY43" fmla="*/ 4939930 h 6281430"/>
              <a:gd name="connsiteX44" fmla="*/ 572676 w 6376889"/>
              <a:gd name="connsiteY44" fmla="*/ 4659534 h 6281430"/>
              <a:gd name="connsiteX45" fmla="*/ 552605 w 6376889"/>
              <a:gd name="connsiteY45" fmla="*/ 4567444 h 6281430"/>
              <a:gd name="connsiteX46" fmla="*/ 306411 w 6376889"/>
              <a:gd name="connsiteY46" fmla="*/ 4357147 h 6281430"/>
              <a:gd name="connsiteX47" fmla="*/ 392044 w 6376889"/>
              <a:gd name="connsiteY47" fmla="*/ 4157846 h 6281430"/>
              <a:gd name="connsiteX48" fmla="*/ 309087 w 6376889"/>
              <a:gd name="connsiteY48" fmla="*/ 4139978 h 6281430"/>
              <a:gd name="connsiteX49" fmla="*/ 289017 w 6376889"/>
              <a:gd name="connsiteY49" fmla="*/ 4134480 h 6281430"/>
              <a:gd name="connsiteX50" fmla="*/ 212750 w 6376889"/>
              <a:gd name="connsiteY50" fmla="*/ 4108364 h 6281430"/>
              <a:gd name="connsiteX51" fmla="*/ 6 w 6376889"/>
              <a:gd name="connsiteY51" fmla="*/ 3761993 h 6281430"/>
              <a:gd name="connsiteX52" fmla="*/ 264933 w 6376889"/>
              <a:gd name="connsiteY52" fmla="*/ 3117359 h 6281430"/>
              <a:gd name="connsiteX53" fmla="*/ 363946 w 6376889"/>
              <a:gd name="connsiteY53" fmla="*/ 2984033 h 6281430"/>
              <a:gd name="connsiteX54" fmla="*/ 362608 w 6376889"/>
              <a:gd name="connsiteY54" fmla="*/ 2982659 h 6281430"/>
              <a:gd name="connsiteX55" fmla="*/ 1204218 w 6376889"/>
              <a:gd name="connsiteY55" fmla="*/ 2780609 h 6281430"/>
              <a:gd name="connsiteX56" fmla="*/ 306411 w 6376889"/>
              <a:gd name="connsiteY56" fmla="*/ 2916683 h 6281430"/>
              <a:gd name="connsiteX57" fmla="*/ 306411 w 6376889"/>
              <a:gd name="connsiteY57" fmla="*/ 2911185 h 6281430"/>
              <a:gd name="connsiteX58" fmla="*/ 334509 w 6376889"/>
              <a:gd name="connsiteY58" fmla="*/ 2768239 h 6281430"/>
              <a:gd name="connsiteX59" fmla="*/ 1692592 w 6376889"/>
              <a:gd name="connsiteY59" fmla="*/ 2508460 h 6281430"/>
              <a:gd name="connsiteX60" fmla="*/ 331833 w 6376889"/>
              <a:gd name="connsiteY60" fmla="*/ 2694016 h 6281430"/>
              <a:gd name="connsiteX61" fmla="*/ 212750 w 6376889"/>
              <a:gd name="connsiteY61" fmla="*/ 2662403 h 6281430"/>
              <a:gd name="connsiteX62" fmla="*/ 6 w 6376889"/>
              <a:gd name="connsiteY62" fmla="*/ 2316032 h 6281430"/>
              <a:gd name="connsiteX63" fmla="*/ 264933 w 6376889"/>
              <a:gd name="connsiteY63" fmla="*/ 1671397 h 6281430"/>
              <a:gd name="connsiteX64" fmla="*/ 746617 w 6376889"/>
              <a:gd name="connsiteY64" fmla="*/ 1363512 h 6281430"/>
              <a:gd name="connsiteX65" fmla="*/ 689083 w 6376889"/>
              <a:gd name="connsiteY65" fmla="*/ 1084491 h 6281430"/>
              <a:gd name="connsiteX66" fmla="*/ 833588 w 6376889"/>
              <a:gd name="connsiteY66" fmla="*/ 879692 h 6281430"/>
              <a:gd name="connsiteX67" fmla="*/ 2872720 w 6376889"/>
              <a:gd name="connsiteY67" fmla="*/ 507206 h 6281430"/>
              <a:gd name="connsiteX68" fmla="*/ 1469144 w 6376889"/>
              <a:gd name="connsiteY68" fmla="*/ 706507 h 6281430"/>
              <a:gd name="connsiteX69" fmla="*/ 1493229 w 6376889"/>
              <a:gd name="connsiteY69" fmla="*/ 613041 h 6281430"/>
              <a:gd name="connsiteX70" fmla="*/ 1771535 w 6376889"/>
              <a:gd name="connsiteY70" fmla="*/ 283164 h 6281430"/>
              <a:gd name="connsiteX71" fmla="*/ 3862849 w 6376889"/>
              <a:gd name="connsiteY71" fmla="*/ 20 h 6281430"/>
              <a:gd name="connsiteX72" fmla="*/ 3905331 w 6376889"/>
              <a:gd name="connsiteY72" fmla="*/ 1 h 628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376889" h="6281430">
                <a:moveTo>
                  <a:pt x="3905331" y="1"/>
                </a:moveTo>
                <a:cubicBezTo>
                  <a:pt x="4094848" y="20"/>
                  <a:pt x="4855989" y="1222"/>
                  <a:pt x="4905161" y="19262"/>
                </a:cubicBezTo>
                <a:cubicBezTo>
                  <a:pt x="4961358" y="39880"/>
                  <a:pt x="5000160" y="4143"/>
                  <a:pt x="5021568" y="27509"/>
                </a:cubicBezTo>
                <a:cubicBezTo>
                  <a:pt x="5044315" y="52250"/>
                  <a:pt x="4974738" y="131970"/>
                  <a:pt x="5009526" y="145715"/>
                </a:cubicBezTo>
                <a:cubicBezTo>
                  <a:pt x="5044315" y="159460"/>
                  <a:pt x="5111215" y="119600"/>
                  <a:pt x="5127271" y="155337"/>
                </a:cubicBezTo>
                <a:cubicBezTo>
                  <a:pt x="5143328" y="192448"/>
                  <a:pt x="5068399" y="376629"/>
                  <a:pt x="5032272" y="389000"/>
                </a:cubicBezTo>
                <a:cubicBezTo>
                  <a:pt x="4996146" y="401370"/>
                  <a:pt x="4779388" y="606169"/>
                  <a:pt x="4764670" y="706507"/>
                </a:cubicBezTo>
                <a:cubicBezTo>
                  <a:pt x="4751290" y="806844"/>
                  <a:pt x="6112049" y="750490"/>
                  <a:pt x="6363595" y="882441"/>
                </a:cubicBezTo>
                <a:cubicBezTo>
                  <a:pt x="6363595" y="882441"/>
                  <a:pt x="6470636" y="909931"/>
                  <a:pt x="6077260" y="1217816"/>
                </a:cubicBezTo>
                <a:cubicBezTo>
                  <a:pt x="6077260" y="1217816"/>
                  <a:pt x="5995642" y="1272796"/>
                  <a:pt x="6053176" y="1345644"/>
                </a:cubicBezTo>
                <a:cubicBezTo>
                  <a:pt x="6053176" y="1345644"/>
                  <a:pt x="6053176" y="1591677"/>
                  <a:pt x="5873883" y="1670023"/>
                </a:cubicBezTo>
                <a:cubicBezTo>
                  <a:pt x="5694589" y="1748369"/>
                  <a:pt x="5595576" y="1803348"/>
                  <a:pt x="5515295" y="1971036"/>
                </a:cubicBezTo>
                <a:cubicBezTo>
                  <a:pt x="5481845" y="2041134"/>
                  <a:pt x="5445718" y="2111233"/>
                  <a:pt x="5426986" y="2168962"/>
                </a:cubicBezTo>
                <a:cubicBezTo>
                  <a:pt x="5425648" y="2168962"/>
                  <a:pt x="5425648" y="2168962"/>
                  <a:pt x="5425648" y="2168962"/>
                </a:cubicBezTo>
                <a:cubicBezTo>
                  <a:pt x="5331987" y="2188205"/>
                  <a:pt x="3116238" y="2610172"/>
                  <a:pt x="3128280" y="2641786"/>
                </a:cubicBezTo>
                <a:cubicBezTo>
                  <a:pt x="3134970" y="2662403"/>
                  <a:pt x="4570658" y="2393004"/>
                  <a:pt x="5444380" y="2228065"/>
                </a:cubicBezTo>
                <a:cubicBezTo>
                  <a:pt x="5547407" y="2232188"/>
                  <a:pt x="5654448" y="2236312"/>
                  <a:pt x="5756137" y="2241810"/>
                </a:cubicBezTo>
                <a:cubicBezTo>
                  <a:pt x="5757475" y="2241810"/>
                  <a:pt x="5757475" y="2241810"/>
                  <a:pt x="5758813" y="2241810"/>
                </a:cubicBezTo>
                <a:cubicBezTo>
                  <a:pt x="5907333" y="2211571"/>
                  <a:pt x="6053176" y="2186830"/>
                  <a:pt x="6061204" y="2218443"/>
                </a:cubicBezTo>
                <a:cubicBezTo>
                  <a:pt x="6063880" y="2230814"/>
                  <a:pt x="6066556" y="2245933"/>
                  <a:pt x="6067894" y="2265176"/>
                </a:cubicBezTo>
                <a:cubicBezTo>
                  <a:pt x="6201696" y="2280295"/>
                  <a:pt x="6308737" y="2299538"/>
                  <a:pt x="6363595" y="2328403"/>
                </a:cubicBezTo>
                <a:cubicBezTo>
                  <a:pt x="6363595" y="2328403"/>
                  <a:pt x="6470636" y="2355892"/>
                  <a:pt x="6077260" y="2663778"/>
                </a:cubicBezTo>
                <a:cubicBezTo>
                  <a:pt x="6077260" y="2663778"/>
                  <a:pt x="5995642" y="2718757"/>
                  <a:pt x="6053176" y="2791605"/>
                </a:cubicBezTo>
                <a:cubicBezTo>
                  <a:pt x="6053176" y="2791605"/>
                  <a:pt x="6053176" y="3037638"/>
                  <a:pt x="5873883" y="3115984"/>
                </a:cubicBezTo>
                <a:cubicBezTo>
                  <a:pt x="5694589" y="3194330"/>
                  <a:pt x="5595576" y="3249309"/>
                  <a:pt x="5515295" y="3416997"/>
                </a:cubicBezTo>
                <a:cubicBezTo>
                  <a:pt x="5471141" y="3509088"/>
                  <a:pt x="5421634" y="3603927"/>
                  <a:pt x="5413606" y="3665779"/>
                </a:cubicBezTo>
                <a:cubicBezTo>
                  <a:pt x="5398888" y="3667154"/>
                  <a:pt x="5386846" y="3668528"/>
                  <a:pt x="5378818" y="3669903"/>
                </a:cubicBezTo>
                <a:cubicBezTo>
                  <a:pt x="5364100" y="3671277"/>
                  <a:pt x="5266425" y="3693269"/>
                  <a:pt x="5117905" y="3726257"/>
                </a:cubicBezTo>
                <a:cubicBezTo>
                  <a:pt x="5049667" y="3749623"/>
                  <a:pt x="4969386" y="3768866"/>
                  <a:pt x="4870373" y="3785360"/>
                </a:cubicBezTo>
                <a:cubicBezTo>
                  <a:pt x="4696431" y="3814224"/>
                  <a:pt x="4468969" y="3887072"/>
                  <a:pt x="4181296" y="3986035"/>
                </a:cubicBezTo>
                <a:cubicBezTo>
                  <a:pt x="4856993" y="3863706"/>
                  <a:pt x="5611632" y="3723508"/>
                  <a:pt x="5758813" y="3687771"/>
                </a:cubicBezTo>
                <a:cubicBezTo>
                  <a:pt x="5907333" y="3657532"/>
                  <a:pt x="6053176" y="3631417"/>
                  <a:pt x="6061204" y="3664405"/>
                </a:cubicBezTo>
                <a:cubicBezTo>
                  <a:pt x="6085289" y="3763368"/>
                  <a:pt x="6069232" y="4115237"/>
                  <a:pt x="5558112" y="4252686"/>
                </a:cubicBezTo>
                <a:cubicBezTo>
                  <a:pt x="5558112" y="4252686"/>
                  <a:pt x="5496563" y="4244439"/>
                  <a:pt x="5469803" y="4541328"/>
                </a:cubicBezTo>
                <a:cubicBezTo>
                  <a:pt x="5435014" y="4930308"/>
                  <a:pt x="5437690" y="5137856"/>
                  <a:pt x="4870373" y="5231321"/>
                </a:cubicBezTo>
                <a:cubicBezTo>
                  <a:pt x="4293689" y="5326161"/>
                  <a:pt x="3114900" y="5913067"/>
                  <a:pt x="1182810" y="6281430"/>
                </a:cubicBezTo>
                <a:cubicBezTo>
                  <a:pt x="1182810" y="6281430"/>
                  <a:pt x="1006192" y="5831973"/>
                  <a:pt x="1524003" y="5535083"/>
                </a:cubicBezTo>
                <a:cubicBezTo>
                  <a:pt x="2361599" y="5364647"/>
                  <a:pt x="3510952" y="5129609"/>
                  <a:pt x="3510952" y="5114490"/>
                </a:cubicBezTo>
                <a:cubicBezTo>
                  <a:pt x="3510952" y="5088375"/>
                  <a:pt x="1576185" y="5486976"/>
                  <a:pt x="1503933" y="5497972"/>
                </a:cubicBezTo>
                <a:cubicBezTo>
                  <a:pt x="1499918" y="5497972"/>
                  <a:pt x="1491890" y="5499347"/>
                  <a:pt x="1482524" y="5502096"/>
                </a:cubicBezTo>
                <a:cubicBezTo>
                  <a:pt x="1259076" y="5539207"/>
                  <a:pt x="662322" y="5682153"/>
                  <a:pt x="309087" y="5585939"/>
                </a:cubicBezTo>
                <a:cubicBezTo>
                  <a:pt x="309087" y="5585939"/>
                  <a:pt x="238172" y="5583190"/>
                  <a:pt x="259581" y="5506219"/>
                </a:cubicBezTo>
                <a:cubicBezTo>
                  <a:pt x="280989" y="5429248"/>
                  <a:pt x="339861" y="5295922"/>
                  <a:pt x="301059" y="5174967"/>
                </a:cubicBezTo>
                <a:cubicBezTo>
                  <a:pt x="263595" y="5052638"/>
                  <a:pt x="228806" y="5052638"/>
                  <a:pt x="313101" y="4939930"/>
                </a:cubicBezTo>
                <a:cubicBezTo>
                  <a:pt x="397396" y="4827222"/>
                  <a:pt x="452255" y="4674654"/>
                  <a:pt x="572676" y="4659534"/>
                </a:cubicBezTo>
                <a:cubicBezTo>
                  <a:pt x="572676" y="4659534"/>
                  <a:pt x="598098" y="4619674"/>
                  <a:pt x="552605" y="4567444"/>
                </a:cubicBezTo>
                <a:cubicBezTo>
                  <a:pt x="507113" y="4513839"/>
                  <a:pt x="306411" y="4416250"/>
                  <a:pt x="306411" y="4357147"/>
                </a:cubicBezTo>
                <a:cubicBezTo>
                  <a:pt x="306411" y="4166093"/>
                  <a:pt x="393382" y="4178463"/>
                  <a:pt x="392044" y="4157846"/>
                </a:cubicBezTo>
                <a:cubicBezTo>
                  <a:pt x="363946" y="4152348"/>
                  <a:pt x="335847" y="4146850"/>
                  <a:pt x="309087" y="4139978"/>
                </a:cubicBezTo>
                <a:cubicBezTo>
                  <a:pt x="309087" y="4139978"/>
                  <a:pt x="299721" y="4139978"/>
                  <a:pt x="289017" y="4134480"/>
                </a:cubicBezTo>
                <a:cubicBezTo>
                  <a:pt x="252891" y="4130356"/>
                  <a:pt x="219440" y="4122109"/>
                  <a:pt x="212750" y="4108364"/>
                </a:cubicBezTo>
                <a:cubicBezTo>
                  <a:pt x="196694" y="4074002"/>
                  <a:pt x="1344" y="3822471"/>
                  <a:pt x="6" y="3761993"/>
                </a:cubicBezTo>
                <a:cubicBezTo>
                  <a:pt x="-1332" y="3701516"/>
                  <a:pt x="254229" y="3595680"/>
                  <a:pt x="264933" y="3117359"/>
                </a:cubicBezTo>
                <a:cubicBezTo>
                  <a:pt x="264933" y="3117359"/>
                  <a:pt x="242186" y="3067877"/>
                  <a:pt x="363946" y="2984033"/>
                </a:cubicBezTo>
                <a:cubicBezTo>
                  <a:pt x="363946" y="2984033"/>
                  <a:pt x="363946" y="2982659"/>
                  <a:pt x="362608" y="2982659"/>
                </a:cubicBezTo>
                <a:cubicBezTo>
                  <a:pt x="773378" y="2893317"/>
                  <a:pt x="1202880" y="2797103"/>
                  <a:pt x="1204218" y="2780609"/>
                </a:cubicBezTo>
                <a:cubicBezTo>
                  <a:pt x="1208232" y="2754494"/>
                  <a:pt x="561972" y="2869951"/>
                  <a:pt x="306411" y="2916683"/>
                </a:cubicBezTo>
                <a:cubicBezTo>
                  <a:pt x="306411" y="2915309"/>
                  <a:pt x="306411" y="2912560"/>
                  <a:pt x="306411" y="2911185"/>
                </a:cubicBezTo>
                <a:cubicBezTo>
                  <a:pt x="306411" y="2836963"/>
                  <a:pt x="319791" y="2794354"/>
                  <a:pt x="334509" y="2768239"/>
                </a:cubicBezTo>
                <a:cubicBezTo>
                  <a:pt x="1032952" y="2643160"/>
                  <a:pt x="1692592" y="2523580"/>
                  <a:pt x="1692592" y="2508460"/>
                </a:cubicBezTo>
                <a:cubicBezTo>
                  <a:pt x="1692592" y="2486469"/>
                  <a:pt x="892461" y="2607424"/>
                  <a:pt x="331833" y="2694016"/>
                </a:cubicBezTo>
                <a:cubicBezTo>
                  <a:pt x="283665" y="2688518"/>
                  <a:pt x="222116" y="2683020"/>
                  <a:pt x="212750" y="2662403"/>
                </a:cubicBezTo>
                <a:cubicBezTo>
                  <a:pt x="196694" y="2628041"/>
                  <a:pt x="1344" y="2376509"/>
                  <a:pt x="6" y="2316032"/>
                </a:cubicBezTo>
                <a:cubicBezTo>
                  <a:pt x="-1332" y="2255555"/>
                  <a:pt x="254229" y="2149719"/>
                  <a:pt x="264933" y="1671397"/>
                </a:cubicBezTo>
                <a:cubicBezTo>
                  <a:pt x="264933" y="1671397"/>
                  <a:pt x="210074" y="1549068"/>
                  <a:pt x="746617" y="1363512"/>
                </a:cubicBezTo>
                <a:cubicBezTo>
                  <a:pt x="746617" y="1363512"/>
                  <a:pt x="877743" y="1318154"/>
                  <a:pt x="689083" y="1084491"/>
                </a:cubicBezTo>
                <a:cubicBezTo>
                  <a:pt x="618168" y="996524"/>
                  <a:pt x="701125" y="930548"/>
                  <a:pt x="833588" y="879692"/>
                </a:cubicBezTo>
                <a:cubicBezTo>
                  <a:pt x="1433018" y="776605"/>
                  <a:pt x="2872720" y="525074"/>
                  <a:pt x="2872720" y="507206"/>
                </a:cubicBezTo>
                <a:cubicBezTo>
                  <a:pt x="2872720" y="483839"/>
                  <a:pt x="1744775" y="662523"/>
                  <a:pt x="1469144" y="706507"/>
                </a:cubicBezTo>
                <a:cubicBezTo>
                  <a:pt x="1478510" y="684515"/>
                  <a:pt x="1486538" y="654276"/>
                  <a:pt x="1493229" y="613041"/>
                </a:cubicBezTo>
                <a:cubicBezTo>
                  <a:pt x="1514637" y="467346"/>
                  <a:pt x="1665832" y="283164"/>
                  <a:pt x="1771535" y="283164"/>
                </a:cubicBezTo>
                <a:cubicBezTo>
                  <a:pt x="1990969" y="283164"/>
                  <a:pt x="3342362" y="20"/>
                  <a:pt x="3862849" y="20"/>
                </a:cubicBezTo>
                <a:cubicBezTo>
                  <a:pt x="3862849" y="20"/>
                  <a:pt x="3878257" y="-2"/>
                  <a:pt x="3905331" y="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1261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247E-5367-35D4-1175-107B90D3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Credit Card Approval Matters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C21AE6-9DAF-E3EC-5326-2371D9E3C5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3922804"/>
              </p:ext>
            </p:extLst>
          </p:nvPr>
        </p:nvGraphicFramePr>
        <p:xfrm>
          <a:off x="1154954" y="2603500"/>
          <a:ext cx="8825659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1778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ADF7-2E89-2C89-E4E3-33CB9C02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Goals &amp; 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89761-6E37-309E-E463-889495222D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3" y="2298357"/>
            <a:ext cx="7964333" cy="417658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distributions of key variables 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skewness and outliers 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relationships between variables  </a:t>
            </a:r>
          </a:p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patterns in approval outcomes</a:t>
            </a:r>
          </a:p>
          <a:p>
            <a:pPr marL="0" indent="0">
              <a:buNone/>
            </a:pPr>
            <a:endParaRPr lang="en-US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Questions:</a:t>
            </a:r>
            <a:endParaRPr lang="en-US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financial variables normally distributed?  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there a relationship between Income and Debt?  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Debt influence approval decisions?  </a:t>
            </a:r>
          </a:p>
          <a:p>
            <a:pPr>
              <a:buFont typeface="Wingdings" pitchFamily="2" charset="2"/>
              <a:buChar char="Ø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approval rates vary across industries?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close-up of a magnifying glass&#10;&#10;AI-generated content may be incorrect.">
            <a:extLst>
              <a:ext uri="{FF2B5EF4-FFF2-40B4-BE49-F238E27FC236}">
                <a16:creationId xmlns:a16="http://schemas.microsoft.com/office/drawing/2014/main" id="{08027719-74B2-81BF-475E-2CB7AD632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243" y="2273300"/>
            <a:ext cx="4642757" cy="458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42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D8AF-21F8-3C6F-119A-3DE37D14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AD3E7-8A56-277E-B3BB-6EBEEB426B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130" y="2150076"/>
            <a:ext cx="5559982" cy="4707924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690 credit card applications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attributes (numeric + categorical)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Approved (Approved / Not Approved) 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Variables: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 – primary attribute)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(numeric)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(categorical)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(categorical – binary outcome)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Focus: Understanding distributions and relationships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9113AC-BD4C-C654-36A2-0765D292FCC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81816" y="2286000"/>
            <a:ext cx="5890054" cy="425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940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99695-0BC9-54D7-587A-9A535F00E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653992"/>
            <a:ext cx="8825658" cy="861420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0649A3-8425-188D-DED6-A1C865259E17}"/>
              </a:ext>
            </a:extLst>
          </p:cNvPr>
          <p:cNvSpPr txBox="1"/>
          <p:nvPr/>
        </p:nvSpPr>
        <p:spPr>
          <a:xfrm>
            <a:off x="5313405" y="2120654"/>
            <a:ext cx="549875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Analysis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Scatter plot (Income vs Debt) 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Correlation analysis  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Analysis</a:t>
            </a:r>
          </a:p>
          <a:p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Bar charts for frequency distribution  </a:t>
            </a:r>
          </a:p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Comparison across approval status</a:t>
            </a:r>
          </a:p>
        </p:txBody>
      </p:sp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38AA6B82-92DD-06E9-D798-C8DD1B3EFA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0491973"/>
              </p:ext>
            </p:extLst>
          </p:nvPr>
        </p:nvGraphicFramePr>
        <p:xfrm>
          <a:off x="1154955" y="1715234"/>
          <a:ext cx="5185718" cy="4488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754847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4C075-4360-3D1A-C158-193050CA1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842432"/>
          </a:xfrm>
        </p:spPr>
        <p:txBody>
          <a:bodyPr/>
          <a:lstStyle/>
          <a:p>
            <a:r>
              <a:rPr lang="en-US" b="1" dirty="0"/>
              <a:t>Data Characteristics &amp; Quality Issues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41042-3A99-E09A-AF5D-997DC7D1F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55" y="2285999"/>
            <a:ext cx="5948856" cy="43990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Data Characteristics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is highly right-skewed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 shows moderate right-skew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is heavily concentrated near zero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extreme outliers (e.g., Income up to 100,000)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Considerations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Skewed distributions violate normality assumptions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may influence mean and correlation results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variables show limited variation (e.g., Credit Score)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zero-inflation in financial attributes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BB5F5-2D52-6881-B8E2-1790CE1E8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144" y="1680631"/>
            <a:ext cx="5948856" cy="26567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EF930E-E50B-C361-AB26-59309347D8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144" y="4337335"/>
            <a:ext cx="5948855" cy="252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9806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3299-8910-4481-0D05-A89D8611D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679622"/>
            <a:ext cx="9545997" cy="100101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 – Debt (Primary Attribute)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2202-C5F2-644A-D433-6C101FF3A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346" y="2162432"/>
            <a:ext cx="4782065" cy="456828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Statistics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Range: 0 to 28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Mean: 4.76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Median: 2.75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Skewness: 1.21 (right-skewed)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&gt; Median → indicates right-skewness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applicants have low debt values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of high-value debt outliers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may not represent typical applicants </a:t>
            </a:r>
          </a:p>
        </p:txBody>
      </p:sp>
      <p:pic>
        <p:nvPicPr>
          <p:cNvPr id="6" name="Picture 5" descr="A graph of a graph showing a number of debt&#10;&#10;AI-generated content may be incorrect.">
            <a:extLst>
              <a:ext uri="{FF2B5EF4-FFF2-40B4-BE49-F238E27FC236}">
                <a16:creationId xmlns:a16="http://schemas.microsoft.com/office/drawing/2014/main" id="{12BEAAFC-CC54-E56F-77DD-49BACC568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411" y="2273643"/>
            <a:ext cx="7051589" cy="41185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D4E341-86F6-20A8-47DC-4D66F0A0763B}"/>
              </a:ext>
            </a:extLst>
          </p:cNvPr>
          <p:cNvSpPr txBox="1"/>
          <p:nvPr/>
        </p:nvSpPr>
        <p:spPr>
          <a:xfrm>
            <a:off x="5735596" y="6392161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 Distribution (Right-Skewed with Outliers)</a:t>
            </a:r>
          </a:p>
        </p:txBody>
      </p:sp>
    </p:spTree>
    <p:extLst>
      <p:ext uri="{BB962C8B-B14F-4D97-AF65-F5344CB8AC3E}">
        <p14:creationId xmlns:p14="http://schemas.microsoft.com/office/powerpoint/2010/main" val="1607832626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37B75-092A-9348-03F3-AF7120ABC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54908"/>
            <a:ext cx="8761413" cy="102572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– Income vs Debt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14387-374F-7A95-F021-89AB06E71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2" y="2174787"/>
            <a:ext cx="5984788" cy="4473147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relationship between Income and Debt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clear linear pattern observed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High-income individuals do not always have low debt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low-income applicants also carry high debt </a:t>
            </a:r>
          </a:p>
          <a:p>
            <a:pPr marL="0" indent="0">
              <a:buNone/>
            </a:pP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Insight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appears weak (near 0)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Income alone is not a strong predictor of Debt 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Debt behavior varies across individuals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factors (e.g., employment, credit history) may play a role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linear assumptions may not hold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43D460-8CC1-7DD7-3A69-1772A9BCA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413" y="2301765"/>
            <a:ext cx="6437587" cy="447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98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2DCF84E-D340-64A3-9D18-8C3C61719DCE}"/>
              </a:ext>
            </a:extLst>
          </p:cNvPr>
          <p:cNvSpPr txBox="1"/>
          <p:nvPr/>
        </p:nvSpPr>
        <p:spPr>
          <a:xfrm>
            <a:off x="1791729" y="695980"/>
            <a:ext cx="8090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 Analysis – Approval by Industry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81B57-AD2A-63F0-74A8-E8B77548D9F4}"/>
              </a:ext>
            </a:extLst>
          </p:cNvPr>
          <p:cNvSpPr txBox="1"/>
          <p:nvPr/>
        </p:nvSpPr>
        <p:spPr>
          <a:xfrm>
            <a:off x="593125" y="1418609"/>
            <a:ext cx="642551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 rates vary significantly across industries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industries show higher approval counts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 have more rejections than approvals 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Insight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appears to influence approval outcomes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sectors may be considered lower risk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 may have higher financial uncertainty </a:t>
            </a:r>
          </a:p>
          <a:p>
            <a:pPr>
              <a:buNone/>
            </a:pPr>
            <a:b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 decisions are not uniform across applicants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Industry can be an important factor in risk assessment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Suggests the need for industry-aware decision models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AFFC0A-1285-BE0E-BA9C-B9E7FB76C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027" y="1418608"/>
            <a:ext cx="5605848" cy="474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160129"/>
      </p:ext>
    </p:extLst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DDA34B8A-FA8D-4E16-AD72-7B60B1C25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885D229-60DD-4D71-8181-10E781C149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0B0DAA45-BE66-4F0C-93A6-519D94107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F449A3D-A43B-4688-BD89-35734D007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4E9975C-AF3D-48EF-B3F0-112A01A382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F00A076-2FEA-40D1-8F85-842481797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2E68741-6133-4CAA-BF3C-F0E6CF40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Freeform 5">
              <a:extLst>
                <a:ext uri="{FF2B5EF4-FFF2-40B4-BE49-F238E27FC236}">
                  <a16:creationId xmlns:a16="http://schemas.microsoft.com/office/drawing/2014/main" id="{76C01C64-4A8B-42FC-93C5-2D6A3EBAB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D969AEA9-C1EE-45E1-9964-D9705492E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4845E67D-4E5B-44B3-AB74-5E95C839E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CE317-680B-449C-A423-71C1FE06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3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26C0A-FE4E-A0E2-857A-6A062DB11152}"/>
              </a:ext>
            </a:extLst>
          </p:cNvPr>
          <p:cNvSpPr txBox="1"/>
          <p:nvPr/>
        </p:nvSpPr>
        <p:spPr>
          <a:xfrm>
            <a:off x="639098" y="629265"/>
            <a:ext cx="5132438" cy="979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i="0" kern="1200" dirty="0">
                <a:solidFill>
                  <a:srgbClr val="EBEBEB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Key Findings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8DF4ED-E1D7-A8B6-DB05-EC1788D988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" b="417"/>
          <a:stretch>
            <a:fillRect/>
          </a:stretch>
        </p:blipFill>
        <p:spPr>
          <a:xfrm>
            <a:off x="6714836" y="1033553"/>
            <a:ext cx="4828707" cy="4808475"/>
          </a:xfrm>
          <a:prstGeom prst="rect">
            <a:avLst/>
          </a:prstGeom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BA2D6F-2CF5-3C98-ADA4-D48435D28882}"/>
              </a:ext>
            </a:extLst>
          </p:cNvPr>
          <p:cNvSpPr txBox="1"/>
          <p:nvPr/>
        </p:nvSpPr>
        <p:spPr>
          <a:xfrm>
            <a:off x="639099" y="1519046"/>
            <a:ext cx="5781368" cy="47114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Income and Debt distributions are right-skewed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/>
              <a:t>Outliers affect statistical measures (e.g., mean and correlation)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Weak relationship between Income and Debt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Industry significantly influences approval outcomes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rgbClr val="FFFFFF"/>
                </a:solidFill>
              </a:rPr>
              <a:t>Credit decisions depend on multiple factors, not a single variable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21C103B3-DFD0-20F6-DA02-8A965E6FB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939114" cy="555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B771CA24-8459-B35A-27EF-8F2F7703D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471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FAEF28A3-012D-4640-B8B8-1EF6EAF72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B2F1C2-14D3-4A53-B329-323795BCF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94E879E-1515-4211-8F1B-B68A92B2C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7137E7D-1F4E-498A-97D1-0E1FE6FC6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1375183-B6E5-43E0-B28F-39EC90838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67F36BD-A8AF-4304-A662-1007CC174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5D9095F-2809-4A90-A032-250AC21C3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9027D7BF-C282-4477-A406-245C3F265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AC3C43D8-426E-472E-A8E8-C41BF7A876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52DCAE0E-B8DE-4C42-A48F-FA0C8345A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9647F54-801D-44AB-8284-EDDFF7763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9EA2611-DCBA-4E97-A2B2-9A466E76B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D2669AB-35DB-41EC-BE9C-DA80B60A3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90102" y="977273"/>
            <a:ext cx="6053670" cy="4903455"/>
          </a:xfrm>
          <a:custGeom>
            <a:avLst/>
            <a:gdLst>
              <a:gd name="connsiteX0" fmla="*/ 6053670 w 6053670"/>
              <a:gd name="connsiteY0" fmla="*/ 1098 h 4903455"/>
              <a:gd name="connsiteX1" fmla="*/ 6053670 w 6053670"/>
              <a:gd name="connsiteY1" fmla="*/ 424590 h 4903455"/>
              <a:gd name="connsiteX2" fmla="*/ 6053670 w 6053670"/>
              <a:gd name="connsiteY2" fmla="*/ 1254558 h 4903455"/>
              <a:gd name="connsiteX3" fmla="*/ 6053670 w 6053670"/>
              <a:gd name="connsiteY3" fmla="*/ 4903455 h 4903455"/>
              <a:gd name="connsiteX4" fmla="*/ 0 w 6053670"/>
              <a:gd name="connsiteY4" fmla="*/ 4903455 h 4903455"/>
              <a:gd name="connsiteX5" fmla="*/ 0 w 6053670"/>
              <a:gd name="connsiteY5" fmla="*/ 1249853 h 4903455"/>
              <a:gd name="connsiteX6" fmla="*/ 0 w 6053670"/>
              <a:gd name="connsiteY6" fmla="*/ 424590 h 4903455"/>
              <a:gd name="connsiteX7" fmla="*/ 0 w 6053670"/>
              <a:gd name="connsiteY7" fmla="*/ 0 h 4903455"/>
              <a:gd name="connsiteX8" fmla="*/ 35717 w 6053670"/>
              <a:gd name="connsiteY8" fmla="*/ 5488 h 4903455"/>
              <a:gd name="connsiteX9" fmla="*/ 140445 w 6053670"/>
              <a:gd name="connsiteY9" fmla="*/ 21641 h 4903455"/>
              <a:gd name="connsiteX10" fmla="*/ 216722 w 6053670"/>
              <a:gd name="connsiteY10" fmla="*/ 32932 h 4903455"/>
              <a:gd name="connsiteX11" fmla="*/ 307527 w 6053670"/>
              <a:gd name="connsiteY11" fmla="*/ 44850 h 4903455"/>
              <a:gd name="connsiteX12" fmla="*/ 415282 w 6053670"/>
              <a:gd name="connsiteY12" fmla="*/ 59121 h 4903455"/>
              <a:gd name="connsiteX13" fmla="*/ 534539 w 6053670"/>
              <a:gd name="connsiteY13" fmla="*/ 74175 h 4903455"/>
              <a:gd name="connsiteX14" fmla="*/ 668931 w 6053670"/>
              <a:gd name="connsiteY14" fmla="*/ 90014 h 4903455"/>
              <a:gd name="connsiteX15" fmla="*/ 815430 w 6053670"/>
              <a:gd name="connsiteY15" fmla="*/ 106794 h 4903455"/>
              <a:gd name="connsiteX16" fmla="*/ 974641 w 6053670"/>
              <a:gd name="connsiteY16" fmla="*/ 123574 h 4903455"/>
              <a:gd name="connsiteX17" fmla="*/ 1144144 w 6053670"/>
              <a:gd name="connsiteY17" fmla="*/ 140667 h 4903455"/>
              <a:gd name="connsiteX18" fmla="*/ 1326965 w 6053670"/>
              <a:gd name="connsiteY18" fmla="*/ 156506 h 4903455"/>
              <a:gd name="connsiteX19" fmla="*/ 1518261 w 6053670"/>
              <a:gd name="connsiteY19" fmla="*/ 171717 h 4903455"/>
              <a:gd name="connsiteX20" fmla="*/ 1720453 w 6053670"/>
              <a:gd name="connsiteY20" fmla="*/ 185518 h 4903455"/>
              <a:gd name="connsiteX21" fmla="*/ 1931121 w 6053670"/>
              <a:gd name="connsiteY21" fmla="*/ 198690 h 4903455"/>
              <a:gd name="connsiteX22" fmla="*/ 2150869 w 6053670"/>
              <a:gd name="connsiteY22" fmla="*/ 211079 h 4903455"/>
              <a:gd name="connsiteX23" fmla="*/ 2263467 w 6053670"/>
              <a:gd name="connsiteY23" fmla="*/ 215470 h 4903455"/>
              <a:gd name="connsiteX24" fmla="*/ 2378487 w 6053670"/>
              <a:gd name="connsiteY24" fmla="*/ 220332 h 4903455"/>
              <a:gd name="connsiteX25" fmla="*/ 2495323 w 6053670"/>
              <a:gd name="connsiteY25" fmla="*/ 224879 h 4903455"/>
              <a:gd name="connsiteX26" fmla="*/ 2612764 w 6053670"/>
              <a:gd name="connsiteY26" fmla="*/ 227859 h 4903455"/>
              <a:gd name="connsiteX27" fmla="*/ 2732627 w 6053670"/>
              <a:gd name="connsiteY27" fmla="*/ 230525 h 4903455"/>
              <a:gd name="connsiteX28" fmla="*/ 2853700 w 6053670"/>
              <a:gd name="connsiteY28" fmla="*/ 233348 h 4903455"/>
              <a:gd name="connsiteX29" fmla="*/ 2977195 w 6053670"/>
              <a:gd name="connsiteY29" fmla="*/ 235229 h 4903455"/>
              <a:gd name="connsiteX30" fmla="*/ 3101900 w 6053670"/>
              <a:gd name="connsiteY30" fmla="*/ 235229 h 4903455"/>
              <a:gd name="connsiteX31" fmla="*/ 3227817 w 6053670"/>
              <a:gd name="connsiteY31" fmla="*/ 236170 h 4903455"/>
              <a:gd name="connsiteX32" fmla="*/ 3354944 w 6053670"/>
              <a:gd name="connsiteY32" fmla="*/ 235229 h 4903455"/>
              <a:gd name="connsiteX33" fmla="*/ 3483887 w 6053670"/>
              <a:gd name="connsiteY33" fmla="*/ 233348 h 4903455"/>
              <a:gd name="connsiteX34" fmla="*/ 3612830 w 6053670"/>
              <a:gd name="connsiteY34" fmla="*/ 231623 h 4903455"/>
              <a:gd name="connsiteX35" fmla="*/ 3743589 w 6053670"/>
              <a:gd name="connsiteY35" fmla="*/ 227859 h 4903455"/>
              <a:gd name="connsiteX36" fmla="*/ 3875559 w 6053670"/>
              <a:gd name="connsiteY36" fmla="*/ 223938 h 4903455"/>
              <a:gd name="connsiteX37" fmla="*/ 4007529 w 6053670"/>
              <a:gd name="connsiteY37" fmla="*/ 219391 h 4903455"/>
              <a:gd name="connsiteX38" fmla="*/ 4140710 w 6053670"/>
              <a:gd name="connsiteY38" fmla="*/ 212961 h 4903455"/>
              <a:gd name="connsiteX39" fmla="*/ 4275102 w 6053670"/>
              <a:gd name="connsiteY39" fmla="*/ 205277 h 4903455"/>
              <a:gd name="connsiteX40" fmla="*/ 4410098 w 6053670"/>
              <a:gd name="connsiteY40" fmla="*/ 197907 h 4903455"/>
              <a:gd name="connsiteX41" fmla="*/ 4545096 w 6053670"/>
              <a:gd name="connsiteY41" fmla="*/ 188498 h 4903455"/>
              <a:gd name="connsiteX42" fmla="*/ 4681909 w 6053670"/>
              <a:gd name="connsiteY42" fmla="*/ 177207 h 4903455"/>
              <a:gd name="connsiteX43" fmla="*/ 4816905 w 6053670"/>
              <a:gd name="connsiteY43" fmla="*/ 165916 h 4903455"/>
              <a:gd name="connsiteX44" fmla="*/ 4954323 w 6053670"/>
              <a:gd name="connsiteY44" fmla="*/ 152899 h 4903455"/>
              <a:gd name="connsiteX45" fmla="*/ 5092347 w 6053670"/>
              <a:gd name="connsiteY45" fmla="*/ 138629 h 4903455"/>
              <a:gd name="connsiteX46" fmla="*/ 5228555 w 6053670"/>
              <a:gd name="connsiteY46" fmla="*/ 123574 h 4903455"/>
              <a:gd name="connsiteX47" fmla="*/ 5366578 w 6053670"/>
              <a:gd name="connsiteY47" fmla="*/ 106010 h 4903455"/>
              <a:gd name="connsiteX48" fmla="*/ 5503997 w 6053670"/>
              <a:gd name="connsiteY48" fmla="*/ 87192 h 4903455"/>
              <a:gd name="connsiteX49" fmla="*/ 5642020 w 6053670"/>
              <a:gd name="connsiteY49" fmla="*/ 68530 h 4903455"/>
              <a:gd name="connsiteX50" fmla="*/ 5779438 w 6053670"/>
              <a:gd name="connsiteY50" fmla="*/ 46733 h 4903455"/>
              <a:gd name="connsiteX51" fmla="*/ 5916251 w 6053670"/>
              <a:gd name="connsiteY51" fmla="*/ 24464 h 4903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4903455">
                <a:moveTo>
                  <a:pt x="6053670" y="1098"/>
                </a:moveTo>
                <a:lnTo>
                  <a:pt x="6053670" y="424590"/>
                </a:lnTo>
                <a:lnTo>
                  <a:pt x="6053670" y="1254558"/>
                </a:lnTo>
                <a:lnTo>
                  <a:pt x="6053670" y="4903455"/>
                </a:lnTo>
                <a:lnTo>
                  <a:pt x="0" y="4903455"/>
                </a:lnTo>
                <a:lnTo>
                  <a:pt x="0" y="1249853"/>
                </a:lnTo>
                <a:lnTo>
                  <a:pt x="0" y="424590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Freeform 5">
            <a:extLst>
              <a:ext uri="{FF2B5EF4-FFF2-40B4-BE49-F238E27FC236}">
                <a16:creationId xmlns:a16="http://schemas.microsoft.com/office/drawing/2014/main" id="{BBC615D1-6E12-40EF-915B-316CFDB55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1069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5">
            <a:extLst>
              <a:ext uri="{FF2B5EF4-FFF2-40B4-BE49-F238E27FC236}">
                <a16:creationId xmlns:a16="http://schemas.microsoft.com/office/drawing/2014/main" id="{B9797D36-DE1E-47CD-881A-6C1F5828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5349246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328601-3377-140F-CB31-3CBA69C50BE9}"/>
              </a:ext>
            </a:extLst>
          </p:cNvPr>
          <p:cNvSpPr txBox="1"/>
          <p:nvPr/>
        </p:nvSpPr>
        <p:spPr>
          <a:xfrm>
            <a:off x="639098" y="629265"/>
            <a:ext cx="6072776" cy="1622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 &amp; Takeaways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6E39DE-5F78-ED38-0B02-A01C85C8E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05" r="17550" b="-2"/>
          <a:stretch>
            <a:fillRect/>
          </a:stretch>
        </p:blipFill>
        <p:spPr>
          <a:xfrm>
            <a:off x="7418226" y="645106"/>
            <a:ext cx="4125317" cy="5585369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A2FAF1F-F462-46AF-A9E6-CC93C4E2C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146BED8-BAE9-42C5-A3DD-7B946445D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5765FE8-B62F-41E4-A73C-74C91A8FD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D9736-7B89-0F89-3124-81C1E86A90C0}"/>
              </a:ext>
            </a:extLst>
          </p:cNvPr>
          <p:cNvSpPr txBox="1"/>
          <p:nvPr/>
        </p:nvSpPr>
        <p:spPr>
          <a:xfrm>
            <a:off x="639097" y="1519046"/>
            <a:ext cx="6355793" cy="47114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approval decisions are complex and multifactorial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variable fully explains approval outcomes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multiple factors improves decision accuracy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approaches are essential for risk assessment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can support better financial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3463798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59" y="411479"/>
            <a:ext cx="6510775" cy="329184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 !!</a:t>
            </a:r>
            <a:r>
              <a:rPr lang="en-US" dirty="0"/>
              <a:t> you!</a:t>
            </a:r>
          </a:p>
        </p:txBody>
      </p:sp>
      <p:pic>
        <p:nvPicPr>
          <p:cNvPr id="4" name="Picture 3" descr="Double Thumbs Up Emoji">
            <a:extLst>
              <a:ext uri="{FF2B5EF4-FFF2-40B4-BE49-F238E27FC236}">
                <a16:creationId xmlns:a16="http://schemas.microsoft.com/office/drawing/2014/main" id="{4413CC17-22F1-0348-FF45-A67484799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929" y="3208132"/>
            <a:ext cx="3136691" cy="313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8EA0-4674-6DC0-5550-B2F01599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296A5-6D62-EE98-BD73-E2091310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Kaggle. (n.d.). Credit card approval dataset. </a:t>
            </a:r>
            <a:r>
              <a:rPr lang="en-US" u="sng" dirty="0">
                <a:hlinkClick r:id="rId2"/>
              </a:rPr>
              <a:t>https://www.kaggle.com/datasets/samuelcortinhas/credit-card-approval-clean-data</a:t>
            </a:r>
            <a:r>
              <a:rPr lang="en-US" dirty="0"/>
              <a:t> </a:t>
            </a:r>
          </a:p>
          <a:p>
            <a:r>
              <a:rPr lang="en-US" dirty="0"/>
              <a:t> Stock image from pptx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57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258</TotalTime>
  <Words>660</Words>
  <Application>Microsoft Macintosh PowerPoint</Application>
  <PresentationFormat>Widescreen</PresentationFormat>
  <Paragraphs>126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Century Gothic</vt:lpstr>
      <vt:lpstr>Times New Roman</vt:lpstr>
      <vt:lpstr>Wingdings</vt:lpstr>
      <vt:lpstr>Wingdings 3</vt:lpstr>
      <vt:lpstr>Ion Boardroom</vt:lpstr>
      <vt:lpstr>Exploratory Data Analysis on Credit Card Approval Understanding Patterns, Distributions, and Approval Decisions </vt:lpstr>
      <vt:lpstr>Why Credit Card Approval Matters </vt:lpstr>
      <vt:lpstr>Analysis Goals &amp; Research Questions</vt:lpstr>
      <vt:lpstr>Dataset Overview</vt:lpstr>
      <vt:lpstr>Methods</vt:lpstr>
      <vt:lpstr>Data Characteristics &amp; Quality Issues </vt:lpstr>
      <vt:lpstr>Univariate Analysis – Debt (Primary Attribute) </vt:lpstr>
      <vt:lpstr>Bivariate Analysis – Income vs Debt </vt:lpstr>
      <vt:lpstr>PowerPoint Presentation</vt:lpstr>
      <vt:lpstr>PowerPoint Presentation</vt:lpstr>
      <vt:lpstr>PowerPoint Presentation</vt:lpstr>
      <vt:lpstr>Thank you !! you!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C, Niranjan</dc:creator>
  <cp:lastModifiedBy>K C, Niranjan</cp:lastModifiedBy>
  <cp:revision>25</cp:revision>
  <dcterms:created xsi:type="dcterms:W3CDTF">2026-03-02T15:11:25Z</dcterms:created>
  <dcterms:modified xsi:type="dcterms:W3CDTF">2026-03-24T00:02:43Z</dcterms:modified>
</cp:coreProperties>
</file>